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are read directly from the consumes and produces clauses. Of six possible partner pairs, two are stated. Meridian appears in no exchange with anyone. No interface variable is named anywhere, in any direction, for any partner.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The point is not that the partners are difficult. It is that none of these is a failure of effort, and all four resolve to the same missing artifact.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pressed on the counter-case: loose coupling is defensible for a planning study and indefensible for a resilience claim. The funder is buying a resilience claim.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parallelism is a dependency argument and not a preference. Say it that way. Helix is in the room and off the critical path.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derate is the meeting to schedule first and allow most time for. Everything else on this slide is a decision, not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Second-year funding depends on this demonstration, so every item in the plan was tested against whether it helps get this slide to be true.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checker matters here too: a neutral tool reporting that two partners exchange something neither declares makes the gap a property of the interface rather than an accusation against a partner.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in three minutes: run make, show the page, select an orphaned item, show the finding, then open the declaration it came from and show the sentence. Close on the limits.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Four objects nobody owns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ARES does not have four problems. It has one missing artifact.</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**The aggregation operator.** Solis plans against bounds over multi-year horizons. Tharsis emits hourly traces. The conversion between them requires a judgement about statistic and window, and no partner's interface claims it.</a:t>
            </a:r>
          </a:p>
        </p:txBody>
      </p:sp>
      <p:sp>
        <p:nvSpPr>
          <p:cNvPr id="6" name="Rounded Rectangle 5"/>
          <p:cNvSpPr/>
          <p:nvPr/>
        </p:nvSpPr>
        <p:spPr>
          <a:xfrm>
            <a:off x="585216" y="314553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3090672"/>
            <a:ext cx="10222992" cy="365760"/>
          </a:xfrm>
          <a:prstGeom prst="rect">
            <a:avLst/>
          </a:prstGeom>
          <a:noFill/>
        </p:spPr>
        <p:txBody>
          <a:bodyPr wrap="square">
            <a:spAutoFit/>
          </a:bodyPr>
          <a:lstStyle/>
          <a:p>
            <a:r>
              <a:rPr sz="1350" b="1">
                <a:solidFill>
                  <a:srgbClr val="1F2937"/>
                </a:solidFill>
                <a:latin typeface="Helvetica"/>
              </a:rPr>
              <a:t>**The derate function.** Solis publishes installed capacity. Tharsis needs available capacity. Tharsis applies its own derate, fitted to a reliability memo that predates the configuration it is applied to.</a:t>
            </a:r>
          </a:p>
        </p:txBody>
      </p:sp>
      <p:sp>
        <p:nvSpPr>
          <p:cNvPr id="8" name="Rounded Rectangle 7"/>
          <p:cNvSpPr/>
          <p:nvPr/>
        </p:nvSpPr>
        <p:spPr>
          <a:xfrm>
            <a:off x="585216" y="438912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334256"/>
            <a:ext cx="10222992" cy="365760"/>
          </a:xfrm>
          <a:prstGeom prst="rect">
            <a:avLst/>
          </a:prstGeom>
          <a:noFill/>
        </p:spPr>
        <p:txBody>
          <a:bodyPr wrap="square">
            <a:spAutoFit/>
          </a:bodyPr>
          <a:lstStyle/>
          <a:p>
            <a:r>
              <a:rPr sz="1350" b="1">
                <a:solidFill>
                  <a:srgbClr val="1F2937"/>
                </a:solidFill>
                <a:latin typeface="Helvetica"/>
              </a:rPr>
              <a:t>**The service level thresholds.** Meridian defines what counts as acceptable. Tharsis reports shortfalls against limits it took from a human spaceflight standard, because no partner issued a set.</a:t>
            </a:r>
          </a:p>
        </p:txBody>
      </p:sp>
      <p:sp>
        <p:nvSpPr>
          <p:cNvPr id="10" name="Rounded Rectangle 9"/>
          <p:cNvSpPr/>
          <p:nvPr/>
        </p:nvSpPr>
        <p:spPr>
          <a:xfrm>
            <a:off x="585216" y="56327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5577840"/>
            <a:ext cx="10222992" cy="365760"/>
          </a:xfrm>
          <a:prstGeom prst="rect">
            <a:avLst/>
          </a:prstGeom>
          <a:noFill/>
        </p:spPr>
        <p:txBody>
          <a:bodyPr wrap="square">
            <a:spAutoFit/>
          </a:bodyPr>
          <a:lstStyle/>
          <a:p>
            <a:r>
              <a:rPr sz="1350" b="1">
                <a:solidFill>
                  <a:srgbClr val="1F2937"/>
                </a:solidFill>
                <a:latin typeface="Helvetica"/>
              </a:rPr>
              <a:t>**The population schedule.** The largest single driver of hourly demand. Consumed by Tharsis, produced by nobody, versioned by no one.</a:t>
            </a:r>
          </a:p>
        </p:txBody>
      </p:sp>
      <p:sp>
        <p:nvSpPr>
          <p:cNvPr id="12" name="TextBox 11"/>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Read off the partner descriptions in the brief. Nothing inferred.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Four symptoms, one cause</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Every symptom at month 8 is a clause of a contract that was never written.</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**Two months late, wrong format.** Cadence, latency and encoding were never contract terms. An exchange cannot be late against a deadline nobody set.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**Tharsis and Helix dispute meaning and ownership.** The variables have no declared owner, so a partner that needed names invented them and built against them.</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**Meridian cannot represent uncertainty.** The interface has no uncertainty clause. This is not a complaint about quality, it is a statement that a required clause is missing.</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**The scales are unreconciled.** The operators that bridge hourly to multi-year are the two unowned objects above.</a:t>
            </a:r>
          </a:p>
        </p:txBody>
      </p:sp>
      <p:sp>
        <p:nvSpPr>
          <p:cNvPr id="12" name="TextBox 11"/>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Four workstreams aimed at these separately would each address a symptom.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Tight coupling is necessary, which is why the contract comes first</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Supply and demand share a driver, so exchanging bounds once destroys the thing being tested.</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In the 2018 planet-encircling dust event, one rover's array output fell from 645 Wh to 22 Wh in eleven days, around 3 percent of clear-sky baseline.</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The same storm drives crew indoors, changes activity schedules, raises thermal load and shifts life support duty cycles. Generation falls and demand rises together.</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Exchange bounds once and that correlation is gone by construction. What returns is a worst-case supply and a worst-case demand as two separate numbers, when the coincidence is what ends a settlement.</a:t>
            </a:r>
          </a:p>
        </p:txBody>
      </p:sp>
      <p:sp>
        <p:nvSpPr>
          <p:cNvPr id="10" name="Rounded Rectangle 9"/>
          <p:cNvSpPr/>
          <p:nvPr/>
        </p:nvSpPr>
        <p:spPr>
          <a:xfrm>
            <a:off x="585216" y="5084064"/>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5029200"/>
            <a:ext cx="10222992" cy="365760"/>
          </a:xfrm>
          <a:prstGeom prst="rect">
            <a:avLst/>
          </a:prstGeom>
          <a:noFill/>
        </p:spPr>
        <p:txBody>
          <a:bodyPr wrap="square">
            <a:spAutoFit/>
          </a:bodyPr>
          <a:lstStyle/>
          <a:p>
            <a:r>
              <a:rPr sz="1350" b="1">
                <a:solidFill>
                  <a:srgbClr val="1F2937"/>
                </a:solidFill>
                <a:latin typeface="Helvetica"/>
              </a:rPr>
              <a:t>That is what Meridian means by compound events. Its objection and the coupling question are one question, not two.</a:t>
            </a:r>
          </a:p>
        </p:txBody>
      </p:sp>
      <p:sp>
        <p:nvSpPr>
          <p:cNvPr id="12" name="Rounded Rectangle 11"/>
          <p:cNvSpPr/>
          <p:nvPr/>
        </p:nvSpPr>
        <p:spPr>
          <a:xfrm>
            <a:off x="585216" y="596188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907024"/>
            <a:ext cx="10222992" cy="365760"/>
          </a:xfrm>
          <a:prstGeom prst="rect">
            <a:avLst/>
          </a:prstGeom>
          <a:noFill/>
        </p:spPr>
        <p:txBody>
          <a:bodyPr wrap="square">
            <a:spAutoFit/>
          </a:bodyPr>
          <a:lstStyle/>
          <a:p>
            <a:r>
              <a:rPr sz="1350" b="1">
                <a:solidFill>
                  <a:srgbClr val="1F2937"/>
                </a:solidFill>
                <a:latin typeface="Helvetica"/>
              </a:rPr>
              <a:t>**And coupling tightly across three vocabularies and two clocks does not fail loudly. It agrees quickly and wrongly, once per timestep.**</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The brief invites the opposite case. This is why it was rejected rather than not chosen.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Six weeks: two tracks, one critical path</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Solis to Tharsis is the critical path. Meridian runs alongside it, not after it.</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**Track A, weeks 1 to 3.** Declare the Solis to Tharsis contract. These are the two models that must exchange anything at all, and nothing runs end to end until this exists.</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**Track B, weeks 1 to 3.** Elicit Meridian's evidence requirement. Run it afterwards and the contract gets agreed twice, because the first version will not carry uncertainty and Meridian will say so.</a:t>
            </a:r>
          </a:p>
        </p:txBody>
      </p:sp>
      <p:sp>
        <p:nvSpPr>
          <p:cNvPr id="8" name="Rounded Rectangle 7"/>
          <p:cNvSpPr/>
          <p:nvPr/>
        </p:nvSpPr>
        <p:spPr>
          <a:xfrm>
            <a:off x="585216" y="402335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968496"/>
            <a:ext cx="10222992" cy="365760"/>
          </a:xfrm>
          <a:prstGeom prst="rect">
            <a:avLst/>
          </a:prstGeom>
          <a:noFill/>
        </p:spPr>
        <p:txBody>
          <a:bodyPr wrap="square">
            <a:spAutoFit/>
          </a:bodyPr>
          <a:lstStyle/>
          <a:p>
            <a:r>
              <a:rPr sz="1350" b="1">
                <a:solidFill>
                  <a:srgbClr val="1F2937"/>
                </a:solidFill>
                <a:latin typeface="Helvetica"/>
              </a:rPr>
              <a:t>**Weeks 4 to 6.** Normal case, stress case, then the traceability pass.</a:t>
            </a:r>
          </a:p>
        </p:txBody>
      </p:sp>
      <p:sp>
        <p:nvSpPr>
          <p:cNvPr id="10" name="Rounded Rectangle 9"/>
          <p:cNvSpPr/>
          <p:nvPr/>
        </p:nvSpPr>
        <p:spPr>
          <a:xfrm>
            <a:off x="585216" y="47183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663440"/>
            <a:ext cx="10222992" cy="365760"/>
          </a:xfrm>
          <a:prstGeom prst="rect">
            <a:avLst/>
          </a:prstGeom>
          <a:noFill/>
        </p:spPr>
        <p:txBody>
          <a:bodyPr wrap="square">
            <a:spAutoFit/>
          </a:bodyPr>
          <a:lstStyle/>
          <a:p>
            <a:r>
              <a:rPr sz="1350" b="1">
                <a:solidFill>
                  <a:srgbClr val="1F2937"/>
                </a:solidFill>
                <a:latin typeface="Helvetica"/>
              </a:rPr>
              <a:t>**Helix.** Re-points its existing adapter to the week-one ruling, a diff rather than a rewrite, and runs it as a continuous conformance check on the one exchange that already failed. It never receives authority over meaning.</a:t>
            </a:r>
          </a:p>
        </p:txBody>
      </p:sp>
      <p:sp>
        <p:nvSpPr>
          <p:cNvPr id="12" name="TextBox 11"/>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Every action closes a named gap. The plan is traceable to the diagnosis.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Track A: the exchange that already failed</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Five decisions. One is hard and four are afternoons.</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**Fix the calendar and epoch.** One partner indexes on sols, the other plans in Earth years, and neither says so. Owner: coordinator. Week 1.</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**Name the aggregation.** Which statistic, over which window, computed by whom. Owner: Solis and Tharsis jointly. Week 2.</a:t>
            </a:r>
          </a:p>
        </p:txBody>
      </p:sp>
      <p:sp>
        <p:nvSpPr>
          <p:cNvPr id="8" name="Rounded Rectangle 7"/>
          <p:cNvSpPr/>
          <p:nvPr/>
        </p:nvSpPr>
        <p:spPr>
          <a:xfrm>
            <a:off x="585216" y="36575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602735"/>
            <a:ext cx="10222992" cy="365760"/>
          </a:xfrm>
          <a:prstGeom prst="rect">
            <a:avLst/>
          </a:prstGeom>
          <a:noFill/>
        </p:spPr>
        <p:txBody>
          <a:bodyPr wrap="square">
            <a:spAutoFit/>
          </a:bodyPr>
          <a:lstStyle/>
          <a:p>
            <a:r>
              <a:rPr sz="1350" b="1">
                <a:solidFill>
                  <a:srgbClr val="1F2937"/>
                </a:solidFill>
                <a:latin typeface="Helvetica"/>
              </a:rPr>
              <a:t>**Move the derate into the contract.** The hard one. It means Solis says publicly how its capacity degrades. Owner: Solis, with Meridian's failure definitions. Weeks 2 to 3.</a:t>
            </a:r>
          </a:p>
        </p:txBody>
      </p:sp>
      <p:sp>
        <p:nvSpPr>
          <p:cNvPr id="10" name="Rounded Rectangle 9"/>
          <p:cNvSpPr/>
          <p:nvPr/>
        </p:nvSpPr>
        <p:spPr>
          <a:xfrm>
            <a:off x="585216" y="47183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663440"/>
            <a:ext cx="10222992" cy="365760"/>
          </a:xfrm>
          <a:prstGeom prst="rect">
            <a:avLst/>
          </a:prstGeom>
          <a:noFill/>
        </p:spPr>
        <p:txBody>
          <a:bodyPr wrap="square">
            <a:spAutoFit/>
          </a:bodyPr>
          <a:lstStyle/>
          <a:p>
            <a:r>
              <a:rPr sz="1350" b="1">
                <a:solidFill>
                  <a:srgbClr val="1F2937"/>
                </a:solidFill>
                <a:latin typeface="Helvetica"/>
              </a:rPr>
              <a:t>**Assign the population schedule.** A producer, a revision cadence, a version identifier on every run. Owner: programme. Week 1.</a:t>
            </a:r>
          </a:p>
        </p:txBody>
      </p:sp>
      <p:sp>
        <p:nvSpPr>
          <p:cNvPr id="12" name="Rounded Rectangle 11"/>
          <p:cNvSpPr/>
          <p:nvPr/>
        </p:nvSpPr>
        <p:spPr>
          <a:xfrm>
            <a:off x="585216" y="559612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541264"/>
            <a:ext cx="10222992" cy="365760"/>
          </a:xfrm>
          <a:prstGeom prst="rect">
            <a:avLst/>
          </a:prstGeom>
          <a:noFill/>
        </p:spPr>
        <p:txBody>
          <a:bodyPr wrap="square">
            <a:spAutoFit/>
          </a:bodyPr>
          <a:lstStyle/>
          <a:p>
            <a:r>
              <a:rPr sz="1350" b="1">
                <a:solidFill>
                  <a:srgbClr val="1F2937"/>
                </a:solidFill>
                <a:latin typeface="Helvetica"/>
              </a:rPr>
              <a:t>**Declare units, boundary and encoding on both sides.** A contract table with no empty cells, or with empty cells that are visible.</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Review point, end of week 1: the calendar is fixed and the thresholds are published, or week 2 carries an unowned assumption.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What the board sees at week six</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One configuration, two cases, and a line from every number back to what produced it.</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**Week 4.** The normal operating case, end to end, with the contract enforced.</a:t>
            </a:r>
          </a:p>
        </p:txBody>
      </p:sp>
      <p:sp>
        <p:nvSpPr>
          <p:cNvPr id="6" name="Rounded Rectangle 5"/>
          <p:cNvSpPr/>
          <p:nvPr/>
        </p:nvSpPr>
        <p:spPr>
          <a:xfrm>
            <a:off x="585216" y="241401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359152"/>
            <a:ext cx="10222992" cy="365760"/>
          </a:xfrm>
          <a:prstGeom prst="rect">
            <a:avLst/>
          </a:prstGeom>
          <a:noFill/>
        </p:spPr>
        <p:txBody>
          <a:bodyPr wrap="square">
            <a:spAutoFit/>
          </a:bodyPr>
          <a:lstStyle/>
          <a:p>
            <a:r>
              <a:rPr sz="1350" b="1">
                <a:solidFill>
                  <a:srgbClr val="1F2937"/>
                </a:solidFill>
                <a:latin typeface="Helvetica"/>
              </a:rPr>
              <a:t>**Week 5.** One material stress event, run iterated: Solis proposes, Tharsis simulates with the derate taken from the shared declared state, Solis revises at least once.</a:t>
            </a:r>
          </a:p>
        </p:txBody>
      </p:sp>
      <p:sp>
        <p:nvSpPr>
          <p:cNvPr id="8" name="Rounded Rectangle 7"/>
          <p:cNvSpPr/>
          <p:nvPr/>
        </p:nvSpPr>
        <p:spPr>
          <a:xfrm>
            <a:off x="585216" y="347472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419856"/>
            <a:ext cx="10222992" cy="365760"/>
          </a:xfrm>
          <a:prstGeom prst="rect">
            <a:avLst/>
          </a:prstGeom>
          <a:noFill/>
        </p:spPr>
        <p:txBody>
          <a:bodyPr wrap="square">
            <a:spAutoFit/>
          </a:bodyPr>
          <a:lstStyle/>
          <a:p>
            <a:r>
              <a:rPr sz="1350" b="1">
                <a:solidFill>
                  <a:srgbClr val="1F2937"/>
                </a:solidFill>
                <a:latin typeface="Helvetica"/>
              </a:rPr>
              <a:t>**Week 6.** The traceability pass. For every number: which model produced it, against which contract, on which version of the population schedule, under which threshold set.</a:t>
            </a:r>
          </a:p>
        </p:txBody>
      </p:sp>
      <p:sp>
        <p:nvSpPr>
          <p:cNvPr id="10" name="Rounded Rectangle 9"/>
          <p:cNvSpPr/>
          <p:nvPr/>
        </p:nvSpPr>
        <p:spPr>
          <a:xfrm>
            <a:off x="585216" y="4535424"/>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480560"/>
            <a:ext cx="10222992" cy="365760"/>
          </a:xfrm>
          <a:prstGeom prst="rect">
            <a:avLst/>
          </a:prstGeom>
          <a:noFill/>
        </p:spPr>
        <p:txBody>
          <a:bodyPr wrap="square">
            <a:spAutoFit/>
          </a:bodyPr>
          <a:lstStyle/>
          <a:p>
            <a:r>
              <a:rPr sz="1350" b="1">
                <a:solidFill>
                  <a:srgbClr val="1F2937"/>
                </a:solidFill>
                <a:latin typeface="Helvetica"/>
              </a:rPr>
              <a:t>**The traceability pass is the deliverable, not the run.** Those four questions are exactly what the review asks, and the contract answers all four by construction.</a:t>
            </a:r>
          </a:p>
        </p:txBody>
      </p:sp>
      <p:sp>
        <p:nvSpPr>
          <p:cNvPr id="12" name="Rounded Rectangle 11"/>
          <p:cNvSpPr/>
          <p:nvPr/>
        </p:nvSpPr>
        <p:spPr>
          <a:xfrm>
            <a:off x="585216" y="559612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541264"/>
            <a:ext cx="10222992" cy="365760"/>
          </a:xfrm>
          <a:prstGeom prst="rect">
            <a:avLst/>
          </a:prstGeom>
          <a:noFill/>
        </p:spPr>
        <p:txBody>
          <a:bodyPr wrap="square">
            <a:spAutoFit/>
          </a:bodyPr>
          <a:lstStyle/>
          <a:p>
            <a:r>
              <a:rPr sz="1350" b="1">
                <a:solidFill>
                  <a:srgbClr val="1F2937"/>
                </a:solidFill>
                <a:latin typeface="Helvetica"/>
              </a:rPr>
              <a:t>Not built in six weeks: a general co-simulation platform, a second coupling, or uncertainty propagation. Each deferred with a stated reason rather than descoped quietly.</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Review point, end of week 5: if the stress case has not run, week 6 reports the normal case and says so.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Nobody has to be persuaded</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Every partner is worse off under the status quo, and three do not yet know how.</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**Helix** has built against a provisional reading. A declared contract is the only outcome in which that work survives. Approach first.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**Meridian** has already asked for the uncertainty clause, in the form of an objection. Agree with it in public.</a:t>
            </a:r>
          </a:p>
        </p:txBody>
      </p:sp>
      <p:sp>
        <p:nvSpPr>
          <p:cNvPr id="8" name="Rounded Rectangle 7"/>
          <p:cNvSpPr/>
          <p:nvPr/>
        </p:nvSpPr>
        <p:spPr>
          <a:xfrm>
            <a:off x="585216" y="36575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602735"/>
            <a:ext cx="10222992" cy="365760"/>
          </a:xfrm>
          <a:prstGeom prst="rect">
            <a:avLst/>
          </a:prstGeom>
          <a:noFill/>
        </p:spPr>
        <p:txBody>
          <a:bodyPr wrap="square">
            <a:spAutoFit/>
          </a:bodyPr>
          <a:lstStyle/>
          <a:p>
            <a:r>
              <a:rPr sz="1350" b="1">
                <a:solidFill>
                  <a:srgbClr val="1F2937"/>
                </a:solidFill>
                <a:latin typeface="Helvetica"/>
              </a:rPr>
              <a:t>**Solis** is being judged on a derate function it never saw. Declaring its units is how it takes back control of how its own design is evaluated.</a:t>
            </a:r>
          </a:p>
        </p:txBody>
      </p:sp>
      <p:sp>
        <p:nvSpPr>
          <p:cNvPr id="10" name="Rounded Rectangle 9"/>
          <p:cNvSpPr/>
          <p:nvPr/>
        </p:nvSpPr>
        <p:spPr>
          <a:xfrm>
            <a:off x="585216" y="47183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663440"/>
            <a:ext cx="10222992" cy="365760"/>
          </a:xfrm>
          <a:prstGeom prst="rect">
            <a:avLst/>
          </a:prstGeom>
          <a:noFill/>
        </p:spPr>
        <p:txBody>
          <a:bodyPr wrap="square">
            <a:spAutoFit/>
          </a:bodyPr>
          <a:lstStyle/>
          <a:p>
            <a:r>
              <a:rPr sz="1350" b="1">
                <a:solidFill>
                  <a:srgbClr val="1F2937"/>
                </a:solidFill>
                <a:latin typeface="Helvetica"/>
              </a:rPr>
              <a:t>**Tharsis** carries the blame for thresholds it was never sent and a schedule nobody owns. Declaring the routes moves that liability to where it belongs.</a:t>
            </a:r>
          </a:p>
        </p:txBody>
      </p:sp>
      <p:sp>
        <p:nvSpPr>
          <p:cNvPr id="12" name="Rounded Rectangle 11"/>
          <p:cNvSpPr/>
          <p:nvPr/>
        </p:nvSpPr>
        <p:spPr>
          <a:xfrm>
            <a:off x="585216" y="57790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724144"/>
            <a:ext cx="10222992" cy="365760"/>
          </a:xfrm>
          <a:prstGeom prst="rect">
            <a:avLst/>
          </a:prstGeom>
          <a:noFill/>
        </p:spPr>
        <p:txBody>
          <a:bodyPr wrap="square">
            <a:spAutoFit/>
          </a:bodyPr>
          <a:lstStyle/>
          <a:p>
            <a:r>
              <a:rPr sz="1350" b="1">
                <a:solidFill>
                  <a:srgbClr val="1F2937"/>
                </a:solidFill>
                <a:latin typeface="Helvetica"/>
              </a:rPr>
              <a:t>Convening is the coordinator's job. What cannot be done by fiat is make the ask outrank four organisations' own deliverables, so the ask has to be the thing they already want.</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Authority here is convening plus the diagnosis. The diagnosis does the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The artifact, and what it does not establish</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It finds the gaps from the declarations alone. It was never told what to look for.</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Reads four partner declarations in four incompatible formats, a spec sheet, a README, a clause-numbered requirements document and a JSON schema.</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Applies seven general rules. None of them names a partner, an item or a gap. On a boundary where every object has an owner and every clause is stated, all seven return nothing.</a:t>
            </a:r>
          </a:p>
        </p:txBody>
      </p:sp>
      <p:sp>
        <p:nvSpPr>
          <p:cNvPr id="8" name="Rounded Rectangle 7"/>
          <p:cNvSpPr/>
          <p:nvPr/>
        </p:nvSpPr>
        <p:spPr>
          <a:xfrm>
            <a:off x="585216" y="402335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968496"/>
            <a:ext cx="10222992" cy="365760"/>
          </a:xfrm>
          <a:prstGeom prst="rect">
            <a:avLst/>
          </a:prstGeom>
          <a:noFill/>
        </p:spPr>
        <p:txBody>
          <a:bodyPr wrap="square">
            <a:spAutoFit/>
          </a:bodyPr>
          <a:lstStyle/>
          <a:p>
            <a:r>
              <a:rPr sz="1350" b="1">
                <a:solidFill>
                  <a:srgbClr val="1F2937"/>
                </a:solidFill>
                <a:latin typeface="Helvetica"/>
              </a:rPr>
              <a:t>Returns 105 findings across 43 declarations, 44 of them blocking. The four gaps on slide one fall out unaided, and a test asserts they still do.</a:t>
            </a:r>
          </a:p>
        </p:txBody>
      </p:sp>
      <p:sp>
        <p:nvSpPr>
          <p:cNvPr id="10" name="Rounded Rectangle 9"/>
          <p:cNvSpPr/>
          <p:nvPr/>
        </p:nvSpPr>
        <p:spPr>
          <a:xfrm>
            <a:off x="585216" y="5084064"/>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5029200"/>
            <a:ext cx="10222992" cy="365760"/>
          </a:xfrm>
          <a:prstGeom prst="rect">
            <a:avLst/>
          </a:prstGeom>
          <a:noFill/>
        </p:spPr>
        <p:txBody>
          <a:bodyPr wrap="square">
            <a:spAutoFit/>
          </a:bodyPr>
          <a:lstStyle/>
          <a:p>
            <a:r>
              <a:rPr sz="1350" b="1">
                <a:solidFill>
                  <a:srgbClr val="1F2937"/>
                </a:solidFill>
                <a:latin typeface="Helvetica"/>
              </a:rPr>
              <a:t>**What it does not establish.** It cannot tell you which variables are actually disputed. The declarations are synthetic. It measures what was declared, not what is true.</a:t>
            </a:r>
          </a:p>
        </p:txBody>
      </p:sp>
      <p:sp>
        <p:nvSpPr>
          <p:cNvPr id="12" name="Rounded Rectangle 11"/>
          <p:cNvSpPr/>
          <p:nvPr/>
        </p:nvSpPr>
        <p:spPr>
          <a:xfrm>
            <a:off x="585216" y="614476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6089904"/>
            <a:ext cx="10222992" cy="365760"/>
          </a:xfrm>
          <a:prstGeom prst="rect">
            <a:avLst/>
          </a:prstGeom>
          <a:noFill/>
        </p:spPr>
        <p:txBody>
          <a:bodyPr wrap="square">
            <a:spAutoFit/>
          </a:bodyPr>
          <a:lstStyle/>
          <a:p>
            <a:r>
              <a:rPr sz="1350" b="1">
                <a:solidFill>
                  <a:srgbClr val="1F2937"/>
                </a:solidFill>
                <a:latin typeface="Helvetica"/>
              </a:rPr>
              <a:t>**That ARES cannot answer which variables are in dispute, in month 8, is itself the finding.**</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Runs offline from one command. No network, no dependencies, no framework.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