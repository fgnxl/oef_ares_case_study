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here. The value of this slide is that it stops the room treating these as four problems with four owners.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asked how these were found: list what each partner consumes against what each produces. The gaps are in the text.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to slow down on and the language is deliberate. The counter-case: loose coupling is defensible for a planning study and indefensible for a resilience claim, and the funder is buying a resilience claim. Where the floor sits is Meridian's to state, which is why track B elicits it in weeks 1 to 3. Source if asked: the 2018 figures are the Opportunity rover's own telemetry as reported by JPL, 645 Wh on 30 May falling to 22 Wh by 10 June 2018 against a clear-sky baseline of roughly 600 to 900 Wh per sol. Real published data, external to the brief, unlike everything else here which is read off the partner descriptions.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answers the real question, which is whether the programme survives contact with reality.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every number at week 6: which model, which contract, which schedule version, which threshold set. Those four questions are exactly what the funder's review asks.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bullet is the one to say out loud. It is a governance point dressed as a seating plan. Helix is in the room because it has the only working transport code for the failing exchange, which could get week 2 running in days. The plan benefits from that without depending on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neutral checker reporting that two partners exchange something neither declares makes the gap a property of the interface rather than an accusation against a partner.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in three minutes: run it, show the calendar, select an orphaned item, show the finding, open the declaration and read the sentence it came from. Close on the limits. If asked how this position differs from the one that was confidently wrong and overruled mid-session: it does not differ by better reasoning, it differs by naming in advance the result that would overturn it, and putting that result inside week 5.</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5216" y="475488"/>
            <a:ext cx="10789920" cy="640080"/>
          </a:xfrm>
          <a:prstGeom prst="rect">
            <a:avLst/>
          </a:prstGeom>
          <a:noFill/>
        </p:spPr>
        <p:txBody>
          <a:bodyPr wrap="square">
            <a:spAutoFit/>
          </a:bodyPr>
          <a:lstStyle/>
          <a:p>
            <a:r>
              <a:rPr sz="3000" b="1">
                <a:solidFill>
                  <a:srgbClr val="1F2937"/>
                </a:solidFill>
                <a:latin typeface="Helvetica"/>
              </a:rPr>
              <a:t>This is triage</a:t>
            </a:r>
          </a:p>
        </p:txBody>
      </p:sp>
      <p:sp>
        <p:nvSpPr>
          <p:cNvPr id="3" name="TextBox 2"/>
          <p:cNvSpPr txBox="1"/>
          <p:nvPr/>
        </p:nvSpPr>
        <p:spPr>
          <a:xfrm>
            <a:off x="585216" y="960120"/>
            <a:ext cx="10424160" cy="731520"/>
          </a:xfrm>
          <a:prstGeom prst="rect">
            <a:avLst/>
          </a:prstGeom>
          <a:noFill/>
        </p:spPr>
        <p:txBody>
          <a:bodyPr wrap="square">
            <a:spAutoFit/>
          </a:bodyPr>
          <a:lstStyle/>
          <a:p>
            <a:r>
              <a:rPr sz="1700" b="0">
                <a:solidFill>
                  <a:srgbClr val="475569"/>
                </a:solidFill>
                <a:latin typeface="Helvetica"/>
              </a:rPr>
              <a:t>The four things that have gone wrong at month 8 are four views of one missing artifact.</a:t>
            </a:r>
          </a:p>
        </p:txBody>
      </p:sp>
      <p:sp>
        <p:nvSpPr>
          <p:cNvPr id="4" name="Rounded Rectangle 3"/>
          <p:cNvSpPr/>
          <p:nvPr/>
        </p:nvSpPr>
        <p:spPr>
          <a:xfrm>
            <a:off x="585216" y="1719072"/>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6384" y="1664207"/>
            <a:ext cx="10222992" cy="365760"/>
          </a:xfrm>
          <a:prstGeom prst="rect">
            <a:avLst/>
          </a:prstGeom>
          <a:noFill/>
        </p:spPr>
        <p:txBody>
          <a:bodyPr wrap="square">
            <a:spAutoFit/>
          </a:bodyPr>
          <a:lstStyle/>
          <a:p>
            <a:r>
              <a:rPr sz="1350" b="1">
                <a:solidFill>
                  <a:srgbClr val="1F2937"/>
                </a:solidFill>
                <a:latin typeface="Helvetica"/>
              </a:rPr>
              <a:t>**An exchange is two months late and in the wrong format.** Cadence, latency and encoding were never contract terms. An exchange cannot be late against a deadline nobody set.</a:t>
            </a:r>
          </a:p>
        </p:txBody>
      </p:sp>
      <p:sp>
        <p:nvSpPr>
          <p:cNvPr id="6" name="Rounded Rectangle 5"/>
          <p:cNvSpPr/>
          <p:nvPr/>
        </p:nvSpPr>
        <p:spPr>
          <a:xfrm>
            <a:off x="585216" y="2779775"/>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 y="2724911"/>
            <a:ext cx="10222992" cy="365760"/>
          </a:xfrm>
          <a:prstGeom prst="rect">
            <a:avLst/>
          </a:prstGeom>
          <a:noFill/>
        </p:spPr>
        <p:txBody>
          <a:bodyPr wrap="square">
            <a:spAutoFit/>
          </a:bodyPr>
          <a:lstStyle/>
          <a:p>
            <a:r>
              <a:rPr sz="1350" b="1">
                <a:solidFill>
                  <a:srgbClr val="1F2937"/>
                </a:solidFill>
                <a:latin typeface="Helvetica"/>
              </a:rPr>
              <a:t>**Two partners dispute what variables mean and who owns them.** The variables have no declared owner, so the partner that needed names invented them and built against them.</a:t>
            </a:r>
          </a:p>
        </p:txBody>
      </p:sp>
      <p:sp>
        <p:nvSpPr>
          <p:cNvPr id="8" name="Rounded Rectangle 7"/>
          <p:cNvSpPr/>
          <p:nvPr/>
        </p:nvSpPr>
        <p:spPr>
          <a:xfrm>
            <a:off x="585216" y="3840479"/>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3785615"/>
            <a:ext cx="10222992" cy="365760"/>
          </a:xfrm>
          <a:prstGeom prst="rect">
            <a:avLst/>
          </a:prstGeom>
          <a:noFill/>
        </p:spPr>
        <p:txBody>
          <a:bodyPr wrap="square">
            <a:spAutoFit/>
          </a:bodyPr>
          <a:lstStyle/>
          <a:p>
            <a:r>
              <a:rPr sz="1350" b="1">
                <a:solidFill>
                  <a:srgbClr val="1F2937"/>
                </a:solidFill>
                <a:latin typeface="Helvetica"/>
              </a:rPr>
              <a:t>**The risk laboratory says the interface cannot carry its claims.** It has no uncertainty clause. That is a missing clause, not a complaint about quality.</a:t>
            </a:r>
          </a:p>
        </p:txBody>
      </p:sp>
      <p:sp>
        <p:nvSpPr>
          <p:cNvPr id="10" name="Rounded Rectangle 9"/>
          <p:cNvSpPr/>
          <p:nvPr/>
        </p:nvSpPr>
        <p:spPr>
          <a:xfrm>
            <a:off x="585216" y="4901183"/>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4846320"/>
            <a:ext cx="10222992" cy="365760"/>
          </a:xfrm>
          <a:prstGeom prst="rect">
            <a:avLst/>
          </a:prstGeom>
          <a:noFill/>
        </p:spPr>
        <p:txBody>
          <a:bodyPr wrap="square">
            <a:spAutoFit/>
          </a:bodyPr>
          <a:lstStyle/>
          <a:p>
            <a:r>
              <a:rPr sz="1350" b="1">
                <a:solidFill>
                  <a:srgbClr val="1F2937"/>
                </a:solidFill>
                <a:latin typeface="Helvetica"/>
              </a:rPr>
              <a:t>**Nobody has shown the coupling is necessary.** The operators that bridge hourly simulation to multi-year planning are owned by no one.</a:t>
            </a:r>
          </a:p>
        </p:txBody>
      </p:sp>
      <p:sp>
        <p:nvSpPr>
          <p:cNvPr id="12" name="Rounded Rectangle 11"/>
          <p:cNvSpPr/>
          <p:nvPr/>
        </p:nvSpPr>
        <p:spPr>
          <a:xfrm>
            <a:off x="585216" y="5961888"/>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 y="5907024"/>
            <a:ext cx="10222992" cy="365760"/>
          </a:xfrm>
          <a:prstGeom prst="rect">
            <a:avLst/>
          </a:prstGeom>
          <a:noFill/>
        </p:spPr>
        <p:txBody>
          <a:bodyPr wrap="square">
            <a:spAutoFit/>
          </a:bodyPr>
          <a:lstStyle/>
          <a:p>
            <a:r>
              <a:rPr sz="1350" b="1">
                <a:solidFill>
                  <a:srgbClr val="1F2937"/>
                </a:solidFill>
                <a:latin typeface="Helvetica"/>
              </a:rPr>
              <a:t>Second-year funding depends on a demonstration. This is a crisis to be stabilised, not a programme to be improved.</a:t>
            </a:r>
          </a:p>
        </p:txBody>
      </p:sp>
      <p:sp>
        <p:nvSpPr>
          <p:cNvPr id="14" name="TextBox 13"/>
          <p:cNvSpPr txBox="1"/>
          <p:nvPr/>
        </p:nvSpPr>
        <p:spPr>
          <a:xfrm>
            <a:off x="585216" y="6263640"/>
            <a:ext cx="7315200" cy="274320"/>
          </a:xfrm>
          <a:prstGeom prst="rect">
            <a:avLst/>
          </a:prstGeom>
          <a:noFill/>
        </p:spPr>
        <p:txBody>
          <a:bodyPr wrap="square">
            <a:spAutoFit/>
          </a:bodyPr>
          <a:lstStyle/>
          <a:p>
            <a:r>
              <a:rPr sz="900" b="0">
                <a:solidFill>
                  <a:srgbClr val="64748B"/>
                </a:solidFill>
                <a:latin typeface="Helvetica"/>
              </a:rPr>
              <a:t>None of the four is a failure of effort. Four workstreams aimed at them separately would each address a symptom.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5216" y="475488"/>
            <a:ext cx="10789920" cy="640080"/>
          </a:xfrm>
          <a:prstGeom prst="rect">
            <a:avLst/>
          </a:prstGeom>
          <a:noFill/>
        </p:spPr>
        <p:txBody>
          <a:bodyPr wrap="square">
            <a:spAutoFit/>
          </a:bodyPr>
          <a:lstStyle/>
          <a:p>
            <a:r>
              <a:rPr sz="3000" b="1">
                <a:solidFill>
                  <a:srgbClr val="1F2937"/>
                </a:solidFill>
                <a:latin typeface="Helvetica"/>
              </a:rPr>
              <a:t>Four objects nobody owns</a:t>
            </a:r>
          </a:p>
        </p:txBody>
      </p:sp>
      <p:sp>
        <p:nvSpPr>
          <p:cNvPr id="3" name="TextBox 2"/>
          <p:cNvSpPr txBox="1"/>
          <p:nvPr/>
        </p:nvSpPr>
        <p:spPr>
          <a:xfrm>
            <a:off x="585216" y="960120"/>
            <a:ext cx="10424160" cy="731520"/>
          </a:xfrm>
          <a:prstGeom prst="rect">
            <a:avLst/>
          </a:prstGeom>
          <a:noFill/>
        </p:spPr>
        <p:txBody>
          <a:bodyPr wrap="square">
            <a:spAutoFit/>
          </a:bodyPr>
          <a:lstStyle/>
          <a:p>
            <a:r>
              <a:rPr sz="1700" b="0">
                <a:solidFill>
                  <a:srgbClr val="475569"/>
                </a:solidFill>
                <a:latin typeface="Helvetica"/>
              </a:rPr>
              <a:t>Read off the partners' own consumes and produces clauses. Nothing inferred.</a:t>
            </a:r>
          </a:p>
        </p:txBody>
      </p:sp>
      <p:sp>
        <p:nvSpPr>
          <p:cNvPr id="4" name="Rounded Rectangle 3"/>
          <p:cNvSpPr/>
          <p:nvPr/>
        </p:nvSpPr>
        <p:spPr>
          <a:xfrm>
            <a:off x="585216" y="1399032"/>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6384" y="1344168"/>
            <a:ext cx="3063239" cy="365760"/>
          </a:xfrm>
          <a:prstGeom prst="rect">
            <a:avLst/>
          </a:prstGeom>
          <a:noFill/>
        </p:spPr>
        <p:txBody>
          <a:bodyPr wrap="square">
            <a:spAutoFit/>
          </a:bodyPr>
          <a:lstStyle/>
          <a:p>
            <a:r>
              <a:rPr sz="1350" b="1">
                <a:solidFill>
                  <a:srgbClr val="1F2937"/>
                </a:solidFill>
                <a:latin typeface="Helvetica"/>
              </a:rPr>
              <a:t>**GAP-1** hourly trace to multi-year bound. Nobody owns the conversion.</a:t>
            </a:r>
          </a:p>
        </p:txBody>
      </p:sp>
      <p:sp>
        <p:nvSpPr>
          <p:cNvPr id="6" name="Rounded Rectangle 5"/>
          <p:cNvSpPr/>
          <p:nvPr/>
        </p:nvSpPr>
        <p:spPr>
          <a:xfrm>
            <a:off x="585216" y="2093976"/>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 y="2039112"/>
            <a:ext cx="3063239" cy="365760"/>
          </a:xfrm>
          <a:prstGeom prst="rect">
            <a:avLst/>
          </a:prstGeom>
          <a:noFill/>
        </p:spPr>
        <p:txBody>
          <a:bodyPr wrap="square">
            <a:spAutoFit/>
          </a:bodyPr>
          <a:lstStyle/>
          <a:p>
            <a:r>
              <a:rPr sz="1350" b="1">
                <a:solidFill>
                  <a:srgbClr val="1F2937"/>
                </a:solidFill>
                <a:latin typeface="Helvetica"/>
              </a:rPr>
              <a:t>**GAP-2** installed capacity to available capacity. Tharsis derates privately.</a:t>
            </a:r>
          </a:p>
        </p:txBody>
      </p:sp>
      <p:sp>
        <p:nvSpPr>
          <p:cNvPr id="8" name="Rounded Rectangle 7"/>
          <p:cNvSpPr/>
          <p:nvPr/>
        </p:nvSpPr>
        <p:spPr>
          <a:xfrm>
            <a:off x="585216" y="2788920"/>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2734056"/>
            <a:ext cx="3063239" cy="365760"/>
          </a:xfrm>
          <a:prstGeom prst="rect">
            <a:avLst/>
          </a:prstGeom>
          <a:noFill/>
        </p:spPr>
        <p:txBody>
          <a:bodyPr wrap="square">
            <a:spAutoFit/>
          </a:bodyPr>
          <a:lstStyle/>
          <a:p>
            <a:r>
              <a:rPr sz="1350" b="1">
                <a:solidFill>
                  <a:srgbClr val="1F2937"/>
                </a:solidFill>
                <a:latin typeface="Helvetica"/>
              </a:rPr>
              <a:t>**GAP-3** thresholds produced, routed to nobody.</a:t>
            </a:r>
          </a:p>
        </p:txBody>
      </p:sp>
      <p:sp>
        <p:nvSpPr>
          <p:cNvPr id="10" name="Rounded Rectangle 9"/>
          <p:cNvSpPr/>
          <p:nvPr/>
        </p:nvSpPr>
        <p:spPr>
          <a:xfrm>
            <a:off x="585216" y="3483864"/>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3429000"/>
            <a:ext cx="3063239" cy="365760"/>
          </a:xfrm>
          <a:prstGeom prst="rect">
            <a:avLst/>
          </a:prstGeom>
          <a:noFill/>
        </p:spPr>
        <p:txBody>
          <a:bodyPr wrap="square">
            <a:spAutoFit/>
          </a:bodyPr>
          <a:lstStyle/>
          <a:p>
            <a:r>
              <a:rPr sz="1350" b="1">
                <a:solidFill>
                  <a:srgbClr val="1F2937"/>
                </a:solidFill>
                <a:latin typeface="Helvetica"/>
              </a:rPr>
              <a:t>**GAP-4** the largest demand driver, produced by no partner.</a:t>
            </a:r>
          </a:p>
        </p:txBody>
      </p:sp>
      <p:sp>
        <p:nvSpPr>
          <p:cNvPr id="12" name="Rounded Rectangle 11"/>
          <p:cNvSpPr/>
          <p:nvPr/>
        </p:nvSpPr>
        <p:spPr>
          <a:xfrm>
            <a:off x="585216" y="4178807"/>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 y="4123944"/>
            <a:ext cx="3063239" cy="365760"/>
          </a:xfrm>
          <a:prstGeom prst="rect">
            <a:avLst/>
          </a:prstGeom>
          <a:noFill/>
        </p:spPr>
        <p:txBody>
          <a:bodyPr wrap="square">
            <a:spAutoFit/>
          </a:bodyPr>
          <a:lstStyle/>
          <a:p>
            <a:r>
              <a:rPr sz="1350" b="1">
                <a:solidFill>
                  <a:srgbClr val="1F2937"/>
                </a:solidFill>
                <a:latin typeface="Helvetica"/>
              </a:rPr>
              <a:t>Two of six partner pairs have any stated exchange. No interface variable is named anywhere.</a:t>
            </a:r>
          </a:p>
        </p:txBody>
      </p:sp>
      <p:sp>
        <p:nvSpPr>
          <p:cNvPr id="14" name="TextBox 13"/>
          <p:cNvSpPr txBox="1"/>
          <p:nvPr/>
        </p:nvSpPr>
        <p:spPr>
          <a:xfrm>
            <a:off x="585216" y="6263640"/>
            <a:ext cx="7315200" cy="274320"/>
          </a:xfrm>
          <a:prstGeom prst="rect">
            <a:avLst/>
          </a:prstGeom>
          <a:noFill/>
        </p:spPr>
        <p:txBody>
          <a:bodyPr wrap="square">
            <a:spAutoFit/>
          </a:bodyPr>
          <a:lstStyle/>
          <a:p>
            <a:r>
              <a:rPr sz="900" b="0">
                <a:solidFill>
                  <a:srgbClr val="64748B"/>
                </a:solidFill>
                <a:latin typeface="Helvetica"/>
              </a:rPr>
              <a:t>A private assumption is invisible in a status meeting and lethal in an integration.</a:t>
            </a:r>
          </a:p>
        </p:txBody>
      </p:sp>
      <p:pic>
        <p:nvPicPr>
          <p:cNvPr id="15" name="Picture 14" descr="boundary.png"/>
          <p:cNvPicPr>
            <a:picLocks noChangeAspect="1"/>
          </p:cNvPicPr>
          <p:nvPr/>
        </p:nvPicPr>
        <p:blipFill>
          <a:blip r:embed="rId2"/>
          <a:stretch>
            <a:fillRect/>
          </a:stretch>
        </p:blipFill>
        <p:spPr>
          <a:xfrm>
            <a:off x="4169663" y="1344168"/>
            <a:ext cx="7436815" cy="428258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5216" y="475488"/>
            <a:ext cx="10789920" cy="640080"/>
          </a:xfrm>
          <a:prstGeom prst="rect">
            <a:avLst/>
          </a:prstGeom>
          <a:noFill/>
        </p:spPr>
        <p:txBody>
          <a:bodyPr wrap="square">
            <a:spAutoFit/>
          </a:bodyPr>
          <a:lstStyle/>
          <a:p>
            <a:r>
              <a:rPr sz="3000" b="1">
                <a:solidFill>
                  <a:srgbClr val="1F2937"/>
                </a:solidFill>
                <a:latin typeface="Helvetica"/>
              </a:rPr>
              <a:t>At what fidelity does this become admissible evidence?</a:t>
            </a:r>
          </a:p>
        </p:txBody>
      </p:sp>
      <p:sp>
        <p:nvSpPr>
          <p:cNvPr id="3" name="TextBox 2"/>
          <p:cNvSpPr txBox="1"/>
          <p:nvPr/>
        </p:nvSpPr>
        <p:spPr>
          <a:xfrm>
            <a:off x="585216" y="960120"/>
            <a:ext cx="10424160" cy="731520"/>
          </a:xfrm>
          <a:prstGeom prst="rect">
            <a:avLst/>
          </a:prstGeom>
          <a:noFill/>
        </p:spPr>
        <p:txBody>
          <a:bodyPr wrap="square">
            <a:spAutoFit/>
          </a:bodyPr>
          <a:lstStyle/>
          <a:p>
            <a:r>
              <a:rPr sz="1700" b="0">
                <a:solidFill>
                  <a:srgbClr val="475569"/>
                </a:solidFill>
                <a:latin typeface="Helvetica"/>
              </a:rPr>
              <a:t>The question is not whether tight coupling is scientifically interesting. It is where the line sits between a model that can carry a design decision that kills people if it is wrong, and one that cannot.</a:t>
            </a:r>
          </a:p>
        </p:txBody>
      </p:sp>
      <p:sp>
        <p:nvSpPr>
          <p:cNvPr id="4" name="Rounded Rectangle 3"/>
          <p:cNvSpPr/>
          <p:nvPr/>
        </p:nvSpPr>
        <p:spPr>
          <a:xfrm>
            <a:off x="585216" y="1399032"/>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6384" y="1344168"/>
            <a:ext cx="3063239" cy="365760"/>
          </a:xfrm>
          <a:prstGeom prst="rect">
            <a:avLst/>
          </a:prstGeom>
          <a:noFill/>
        </p:spPr>
        <p:txBody>
          <a:bodyPr wrap="square">
            <a:spAutoFit/>
          </a:bodyPr>
          <a:lstStyle/>
          <a:p>
            <a:r>
              <a:rPr sz="1350" b="1">
                <a:solidFill>
                  <a:srgbClr val="1F2937"/>
                </a:solidFill>
                <a:latin typeface="Helvetica"/>
              </a:rPr>
              <a:t>**A settlement model exists so somebody can sign a habitat design.** Below some level of resolution and coupling it is not a coarser version of the same instrument. It is inadmissible as evidence for the decision it was built to inform.</a:t>
            </a:r>
          </a:p>
        </p:txBody>
      </p:sp>
      <p:sp>
        <p:nvSpPr>
          <p:cNvPr id="6" name="Rounded Rectangle 5"/>
          <p:cNvSpPr/>
          <p:nvPr/>
        </p:nvSpPr>
        <p:spPr>
          <a:xfrm>
            <a:off x="585216" y="2825496"/>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 y="2770632"/>
            <a:ext cx="3063239" cy="365760"/>
          </a:xfrm>
          <a:prstGeom prst="rect">
            <a:avLst/>
          </a:prstGeom>
          <a:noFill/>
        </p:spPr>
        <p:txBody>
          <a:bodyPr wrap="square">
            <a:spAutoFit/>
          </a:bodyPr>
          <a:lstStyle/>
          <a:p>
            <a:r>
              <a:rPr sz="1350" b="1">
                <a:solidFill>
                  <a:srgbClr val="1F2937"/>
                </a:solidFill>
                <a:latin typeface="Helvetica"/>
              </a:rPr>
              <a:t>**No engineer signs a life-safety design on a tool whose own authors would not trust it to design one.** That sets a floor, and this consortium is below it.</a:t>
            </a:r>
          </a:p>
        </p:txBody>
      </p:sp>
      <p:sp>
        <p:nvSpPr>
          <p:cNvPr id="8" name="Rounded Rectangle 7"/>
          <p:cNvSpPr/>
          <p:nvPr/>
        </p:nvSpPr>
        <p:spPr>
          <a:xfrm>
            <a:off x="585216" y="3886200"/>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3831336"/>
            <a:ext cx="3063239" cy="365760"/>
          </a:xfrm>
          <a:prstGeom prst="rect">
            <a:avLst/>
          </a:prstGeom>
          <a:noFill/>
        </p:spPr>
        <p:txBody>
          <a:bodyPr wrap="square">
            <a:spAutoFit/>
          </a:bodyPr>
          <a:lstStyle/>
          <a:p>
            <a:r>
              <a:rPr sz="1350" b="1">
                <a:solidFill>
                  <a:srgbClr val="1F2937"/>
                </a:solidFill>
                <a:latin typeface="Helvetica"/>
              </a:rPr>
              <a:t>**The physics forces the same answer.** A dust event cuts generation and simultaneously drives crew indoors, changing thermal and life support load. Supply and demand answer to the same cause.</a:t>
            </a:r>
          </a:p>
        </p:txBody>
      </p:sp>
      <p:sp>
        <p:nvSpPr>
          <p:cNvPr id="10" name="Rounded Rectangle 9"/>
          <p:cNvSpPr/>
          <p:nvPr/>
        </p:nvSpPr>
        <p:spPr>
          <a:xfrm>
            <a:off x="585216" y="5129784"/>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5074920"/>
            <a:ext cx="3063239" cy="365760"/>
          </a:xfrm>
          <a:prstGeom prst="rect">
            <a:avLst/>
          </a:prstGeom>
          <a:noFill/>
        </p:spPr>
        <p:txBody>
          <a:bodyPr wrap="square">
            <a:spAutoFit/>
          </a:bodyPr>
          <a:lstStyle/>
          <a:p>
            <a:r>
              <a:rPr sz="1350" b="1">
                <a:solidFill>
                  <a:srgbClr val="1F2937"/>
                </a:solidFill>
                <a:latin typeface="Helvetica"/>
              </a:rPr>
              <a:t>Exchange bounds once and that dependence is severed by construction. What returns is a worst case for each side separately, when the coincidence is what ends a settlement.</a:t>
            </a:r>
          </a:p>
        </p:txBody>
      </p:sp>
      <p:sp>
        <p:nvSpPr>
          <p:cNvPr id="12" name="Rounded Rectangle 11"/>
          <p:cNvSpPr/>
          <p:nvPr/>
        </p:nvSpPr>
        <p:spPr>
          <a:xfrm>
            <a:off x="585216" y="6190488"/>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 y="6135624"/>
            <a:ext cx="3063239" cy="365760"/>
          </a:xfrm>
          <a:prstGeom prst="rect">
            <a:avLst/>
          </a:prstGeom>
          <a:noFill/>
        </p:spPr>
        <p:txBody>
          <a:bodyPr wrap="square">
            <a:spAutoFit/>
          </a:bodyPr>
          <a:lstStyle/>
          <a:p>
            <a:r>
              <a:rPr sz="1350" b="1">
                <a:solidFill>
                  <a:srgbClr val="1F2937"/>
                </a:solidFill>
                <a:latin typeface="Helvetica"/>
              </a:rPr>
              <a:t>Meridian's clause 4.2 already forbids exactly this: where two stressors share a physical cause, the model shall not treat them as independent.</a:t>
            </a:r>
          </a:p>
        </p:txBody>
      </p:sp>
      <p:sp>
        <p:nvSpPr>
          <p:cNvPr id="14" name="TextBox 13"/>
          <p:cNvSpPr txBox="1"/>
          <p:nvPr/>
        </p:nvSpPr>
        <p:spPr>
          <a:xfrm>
            <a:off x="585216" y="6263640"/>
            <a:ext cx="7315200" cy="274320"/>
          </a:xfrm>
          <a:prstGeom prst="rect">
            <a:avLst/>
          </a:prstGeom>
          <a:noFill/>
        </p:spPr>
        <p:txBody>
          <a:bodyPr wrap="square">
            <a:spAutoFit/>
          </a:bodyPr>
          <a:lstStyle/>
          <a:p>
            <a:r>
              <a:rPr sz="900" b="0">
                <a:solidFill>
                  <a:srgbClr val="64748B"/>
                </a:solidFill>
                <a:latin typeface="Helvetica"/>
              </a:rPr>
              <a:t>Three quarters of one instrument, not four models that would be nice to connect.</a:t>
            </a:r>
          </a:p>
        </p:txBody>
      </p:sp>
      <p:pic>
        <p:nvPicPr>
          <p:cNvPr id="15" name="Picture 14" descr="independence.png"/>
          <p:cNvPicPr>
            <a:picLocks noChangeAspect="1"/>
          </p:cNvPicPr>
          <p:nvPr/>
        </p:nvPicPr>
        <p:blipFill>
          <a:blip r:embed="rId2"/>
          <a:stretch>
            <a:fillRect/>
          </a:stretch>
        </p:blipFill>
        <p:spPr>
          <a:xfrm>
            <a:off x="4169663" y="1344168"/>
            <a:ext cx="7436815" cy="3301166"/>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5216" y="475488"/>
            <a:ext cx="10789920" cy="640080"/>
          </a:xfrm>
          <a:prstGeom prst="rect">
            <a:avLst/>
          </a:prstGeom>
          <a:noFill/>
        </p:spPr>
        <p:txBody>
          <a:bodyPr wrap="square">
            <a:spAutoFit/>
          </a:bodyPr>
          <a:lstStyle/>
          <a:p>
            <a:r>
              <a:rPr sz="3000" b="1">
                <a:solidFill>
                  <a:srgbClr val="1F2937"/>
                </a:solidFill>
                <a:latin typeface="Helvetica"/>
              </a:rPr>
              <a:t>Six weeks, and never nothing to show</a:t>
            </a:r>
          </a:p>
        </p:txBody>
      </p:sp>
      <p:sp>
        <p:nvSpPr>
          <p:cNvPr id="3" name="TextBox 2"/>
          <p:cNvSpPr txBox="1"/>
          <p:nvPr/>
        </p:nvSpPr>
        <p:spPr>
          <a:xfrm>
            <a:off x="585216" y="960120"/>
            <a:ext cx="10424160" cy="731520"/>
          </a:xfrm>
          <a:prstGeom prst="rect">
            <a:avLst/>
          </a:prstGeom>
          <a:noFill/>
        </p:spPr>
        <p:txBody>
          <a:bodyPr wrap="square">
            <a:spAutoFit/>
          </a:bodyPr>
          <a:lstStyle/>
          <a:p>
            <a:r>
              <a:rPr sz="1700" b="0">
                <a:solidFill>
                  <a:srgbClr val="475569"/>
                </a:solidFill>
                <a:latin typeface="Helvetica"/>
              </a:rPr>
              <a:t>From week 2 the demonstration runs. Every week after improves it rather than building toward a first one.</a:t>
            </a:r>
          </a:p>
        </p:txBody>
      </p:sp>
      <p:sp>
        <p:nvSpPr>
          <p:cNvPr id="4" name="Rounded Rectangle 3"/>
          <p:cNvSpPr/>
          <p:nvPr/>
        </p:nvSpPr>
        <p:spPr>
          <a:xfrm>
            <a:off x="585216" y="1399032"/>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6384" y="1344168"/>
            <a:ext cx="3063239" cy="365760"/>
          </a:xfrm>
          <a:prstGeom prst="rect">
            <a:avLst/>
          </a:prstGeom>
          <a:noFill/>
        </p:spPr>
        <p:txBody>
          <a:bodyPr wrap="square">
            <a:spAutoFit/>
          </a:bodyPr>
          <a:lstStyle/>
          <a:p>
            <a:r>
              <a:rPr sz="1350" b="1">
                <a:solidFill>
                  <a:srgbClr val="1F2937"/>
                </a:solidFill>
                <a:latin typeface="Helvetica"/>
              </a:rPr>
              <a:t>**Week 2 runs end to end on deliberately crude inputs.** Placeholder numbers, one sol of data, nothing polished. Its only job is to make every format, encoding and calendar mismatch fail while there is time to fix them.</a:t>
            </a:r>
          </a:p>
        </p:txBody>
      </p:sp>
      <p:sp>
        <p:nvSpPr>
          <p:cNvPr id="6" name="Rounded Rectangle 5"/>
          <p:cNvSpPr/>
          <p:nvPr/>
        </p:nvSpPr>
        <p:spPr>
          <a:xfrm>
            <a:off x="585216" y="2642616"/>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 y="2587752"/>
            <a:ext cx="3063239" cy="365760"/>
          </a:xfrm>
          <a:prstGeom prst="rect">
            <a:avLst/>
          </a:prstGeom>
          <a:noFill/>
        </p:spPr>
        <p:txBody>
          <a:bodyPr wrap="square">
            <a:spAutoFit/>
          </a:bodyPr>
          <a:lstStyle/>
          <a:p>
            <a:r>
              <a:rPr sz="1350" b="1">
                <a:solidFill>
                  <a:srgbClr val="1F2937"/>
                </a:solidFill>
                <a:latin typeface="Helvetica"/>
              </a:rPr>
              <a:t>The consortium is at month 8 and has never run end to end. An exchange arriving late and in an unexpected format is what that produces.</a:t>
            </a:r>
          </a:p>
        </p:txBody>
      </p:sp>
      <p:sp>
        <p:nvSpPr>
          <p:cNvPr id="8" name="Rounded Rectangle 7"/>
          <p:cNvSpPr/>
          <p:nvPr/>
        </p:nvSpPr>
        <p:spPr>
          <a:xfrm>
            <a:off x="585216" y="3703320"/>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3648456"/>
            <a:ext cx="3063239" cy="365760"/>
          </a:xfrm>
          <a:prstGeom prst="rect">
            <a:avLst/>
          </a:prstGeom>
          <a:noFill/>
        </p:spPr>
        <p:txBody>
          <a:bodyPr wrap="square">
            <a:spAutoFit/>
          </a:bodyPr>
          <a:lstStyle/>
          <a:p>
            <a:r>
              <a:rPr sz="1350" b="1">
                <a:solidFill>
                  <a:srgbClr val="1F2937"/>
                </a:solidFill>
                <a:latin typeface="Helvetica"/>
              </a:rPr>
              <a:t>**Each week's output is a superset of the last.** The worst case in week 6 is showing week 5's version.</a:t>
            </a:r>
          </a:p>
        </p:txBody>
      </p:sp>
      <p:sp>
        <p:nvSpPr>
          <p:cNvPr id="10" name="Rounded Rectangle 9"/>
          <p:cNvSpPr/>
          <p:nvPr/>
        </p:nvSpPr>
        <p:spPr>
          <a:xfrm>
            <a:off x="585216" y="4581144"/>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4526280"/>
            <a:ext cx="3063239" cy="365760"/>
          </a:xfrm>
          <a:prstGeom prst="rect">
            <a:avLst/>
          </a:prstGeom>
          <a:noFill/>
        </p:spPr>
        <p:txBody>
          <a:bodyPr wrap="square">
            <a:spAutoFit/>
          </a:bodyPr>
          <a:lstStyle/>
          <a:p>
            <a:r>
              <a:rPr sz="1350" b="1">
                <a:solidFill>
                  <a:srgbClr val="1F2937"/>
                </a:solidFill>
                <a:latin typeface="Helvetica"/>
              </a:rPr>
              <a:t>**Week 5 is buffer**, and nothing is scheduled into it that cannot move out. A plan with no slack assumes nothing goes wrong.</a:t>
            </a:r>
          </a:p>
        </p:txBody>
      </p:sp>
      <p:sp>
        <p:nvSpPr>
          <p:cNvPr id="12" name="Rounded Rectangle 11"/>
          <p:cNvSpPr/>
          <p:nvPr/>
        </p:nvSpPr>
        <p:spPr>
          <a:xfrm>
            <a:off x="585216" y="5458968"/>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 y="5404104"/>
            <a:ext cx="3063239" cy="365760"/>
          </a:xfrm>
          <a:prstGeom prst="rect">
            <a:avLst/>
          </a:prstGeom>
          <a:noFill/>
        </p:spPr>
        <p:txBody>
          <a:bodyPr wrap="square">
            <a:spAutoFit/>
          </a:bodyPr>
          <a:lstStyle/>
          <a:p>
            <a:r>
              <a:rPr sz="1350" b="1">
                <a:solidFill>
                  <a:srgbClr val="1F2937"/>
                </a:solidFill>
                <a:latin typeface="Helvetica"/>
              </a:rPr>
              <a:t>No week in this plan answers the question 'what can you show us' with nothing, because that answer ends the programme.</a:t>
            </a:r>
          </a:p>
        </p:txBody>
      </p:sp>
      <p:sp>
        <p:nvSpPr>
          <p:cNvPr id="14" name="Rounded Rectangle 13"/>
          <p:cNvSpPr/>
          <p:nvPr/>
        </p:nvSpPr>
        <p:spPr>
          <a:xfrm>
            <a:off x="585216" y="6336792"/>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86384" y="6281928"/>
            <a:ext cx="3063239" cy="365760"/>
          </a:xfrm>
          <a:prstGeom prst="rect">
            <a:avLst/>
          </a:prstGeom>
          <a:noFill/>
        </p:spPr>
        <p:txBody>
          <a:bodyPr wrap="square">
            <a:spAutoFit/>
          </a:bodyPr>
          <a:lstStyle/>
          <a:p>
            <a:r>
              <a:rPr sz="1350" b="1">
                <a:solidFill>
                  <a:srgbClr val="1F2937"/>
                </a:solidFill>
                <a:latin typeface="Helvetica"/>
              </a:rPr>
              <a:t>**Week 5 also tests the recommendation.** If Solis's revised configuration comes back within a tolerance set in week 1, the feedback is weak, one pass suffices, and the coupling argument is wrong. Stated in advance so it can fail.</a:t>
            </a:r>
          </a:p>
        </p:txBody>
      </p:sp>
      <p:sp>
        <p:nvSpPr>
          <p:cNvPr id="16" name="TextBox 15"/>
          <p:cNvSpPr txBox="1"/>
          <p:nvPr/>
        </p:nvSpPr>
        <p:spPr>
          <a:xfrm>
            <a:off x="585216" y="6263640"/>
            <a:ext cx="7315200" cy="274320"/>
          </a:xfrm>
          <a:prstGeom prst="rect">
            <a:avLst/>
          </a:prstGeom>
          <a:noFill/>
        </p:spPr>
        <p:txBody>
          <a:bodyPr wrap="square">
            <a:spAutoFit/>
          </a:bodyPr>
          <a:lstStyle/>
          <a:p>
            <a:r>
              <a:rPr sz="900" b="0">
                <a:solidFill>
                  <a:srgbClr val="64748B"/>
                </a:solidFill>
                <a:latin typeface="Helvetica"/>
              </a:rPr>
              <a:t>No big-bang week, no first attempt in front of the funder, and a headline claim the demonstration can overturn.</a:t>
            </a:r>
          </a:p>
        </p:txBody>
      </p:sp>
      <p:pic>
        <p:nvPicPr>
          <p:cNvPr id="17" name="Picture 16" descr="ratchet.png"/>
          <p:cNvPicPr>
            <a:picLocks noChangeAspect="1"/>
          </p:cNvPicPr>
          <p:nvPr/>
        </p:nvPicPr>
        <p:blipFill>
          <a:blip r:embed="rId2"/>
          <a:stretch>
            <a:fillRect/>
          </a:stretch>
        </p:blipFill>
        <p:spPr>
          <a:xfrm>
            <a:off x="4169663" y="1344168"/>
            <a:ext cx="7436815" cy="3445873"/>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5216" y="475488"/>
            <a:ext cx="10789920" cy="640080"/>
          </a:xfrm>
          <a:prstGeom prst="rect">
            <a:avLst/>
          </a:prstGeom>
          <a:noFill/>
        </p:spPr>
        <p:txBody>
          <a:bodyPr wrap="square">
            <a:spAutoFit/>
          </a:bodyPr>
          <a:lstStyle/>
          <a:p>
            <a:r>
              <a:rPr sz="3000" b="1">
                <a:solidFill>
                  <a:srgbClr val="1F2937"/>
                </a:solidFill>
                <a:latin typeface="Helvetica"/>
              </a:rPr>
              <a:t>The six weeks</a:t>
            </a:r>
          </a:p>
        </p:txBody>
      </p:sp>
      <p:sp>
        <p:nvSpPr>
          <p:cNvPr id="3" name="TextBox 2"/>
          <p:cNvSpPr txBox="1"/>
          <p:nvPr/>
        </p:nvSpPr>
        <p:spPr>
          <a:xfrm>
            <a:off x="585216" y="960120"/>
            <a:ext cx="10424160" cy="731520"/>
          </a:xfrm>
          <a:prstGeom prst="rect">
            <a:avLst/>
          </a:prstGeom>
          <a:noFill/>
        </p:spPr>
        <p:txBody>
          <a:bodyPr wrap="square">
            <a:spAutoFit/>
          </a:bodyPr>
          <a:lstStyle/>
          <a:p>
            <a:r>
              <a:rPr sz="1700" b="0">
                <a:solidFill>
                  <a:srgbClr val="475569"/>
                </a:solidFill>
                <a:latin typeface="Helvetica"/>
              </a:rPr>
              <a:t>Two tracks in parallel, one end-to-end run in week 2, one week of slack, four days of rehearsal.</a:t>
            </a:r>
          </a:p>
        </p:txBody>
      </p:sp>
      <p:sp>
        <p:nvSpPr>
          <p:cNvPr id="4" name="Rounded Rectangle 3"/>
          <p:cNvSpPr/>
          <p:nvPr/>
        </p:nvSpPr>
        <p:spPr>
          <a:xfrm>
            <a:off x="585216" y="1399032"/>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6384" y="1344168"/>
            <a:ext cx="3063239" cy="365760"/>
          </a:xfrm>
          <a:prstGeom prst="rect">
            <a:avLst/>
          </a:prstGeom>
          <a:noFill/>
        </p:spPr>
        <p:txBody>
          <a:bodyPr wrap="square">
            <a:spAutoFit/>
          </a:bodyPr>
          <a:lstStyle/>
          <a:p>
            <a:r>
              <a:rPr sz="1350" b="1">
                <a:solidFill>
                  <a:srgbClr val="1F2937"/>
                </a:solidFill>
                <a:latin typeface="Helvetica"/>
              </a:rPr>
              <a:t>**Track A** is the critical path. The exchange that already failed.</a:t>
            </a:r>
          </a:p>
        </p:txBody>
      </p:sp>
      <p:sp>
        <p:nvSpPr>
          <p:cNvPr id="6" name="Rounded Rectangle 5"/>
          <p:cNvSpPr/>
          <p:nvPr/>
        </p:nvSpPr>
        <p:spPr>
          <a:xfrm>
            <a:off x="585216" y="2093976"/>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 y="2039112"/>
            <a:ext cx="3063239" cy="365760"/>
          </a:xfrm>
          <a:prstGeom prst="rect">
            <a:avLst/>
          </a:prstGeom>
          <a:noFill/>
        </p:spPr>
        <p:txBody>
          <a:bodyPr wrap="square">
            <a:spAutoFit/>
          </a:bodyPr>
          <a:lstStyle/>
          <a:p>
            <a:r>
              <a:rPr sz="1350" b="1">
                <a:solidFill>
                  <a:srgbClr val="1F2937"/>
                </a:solidFill>
                <a:latin typeface="Helvetica"/>
              </a:rPr>
              <a:t>**Track B** runs alongside, because what Meridian requires changes what track A must carry.</a:t>
            </a:r>
          </a:p>
        </p:txBody>
      </p:sp>
      <p:sp>
        <p:nvSpPr>
          <p:cNvPr id="8" name="Rounded Rectangle 7"/>
          <p:cNvSpPr/>
          <p:nvPr/>
        </p:nvSpPr>
        <p:spPr>
          <a:xfrm>
            <a:off x="585216" y="2971799"/>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2916935"/>
            <a:ext cx="3063239" cy="365760"/>
          </a:xfrm>
          <a:prstGeom prst="rect">
            <a:avLst/>
          </a:prstGeom>
          <a:noFill/>
        </p:spPr>
        <p:txBody>
          <a:bodyPr wrap="square">
            <a:spAutoFit/>
          </a:bodyPr>
          <a:lstStyle/>
          <a:p>
            <a:r>
              <a:rPr sz="1350" b="1">
                <a:solidFill>
                  <a:srgbClr val="1F2937"/>
                </a:solidFill>
                <a:latin typeface="Helvetica"/>
              </a:rPr>
              <a:t>**Week 2** runs end to end on crude inputs, so integration fails early.</a:t>
            </a:r>
          </a:p>
        </p:txBody>
      </p:sp>
      <p:sp>
        <p:nvSpPr>
          <p:cNvPr id="10" name="Rounded Rectangle 9"/>
          <p:cNvSpPr/>
          <p:nvPr/>
        </p:nvSpPr>
        <p:spPr>
          <a:xfrm>
            <a:off x="585216" y="3666743"/>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3611879"/>
            <a:ext cx="3063239" cy="365760"/>
          </a:xfrm>
          <a:prstGeom prst="rect">
            <a:avLst/>
          </a:prstGeom>
          <a:noFill/>
        </p:spPr>
        <p:txBody>
          <a:bodyPr wrap="square">
            <a:spAutoFit/>
          </a:bodyPr>
          <a:lstStyle/>
          <a:p>
            <a:r>
              <a:rPr sz="1350" b="1">
                <a:solidFill>
                  <a:srgbClr val="1F2937"/>
                </a:solidFill>
                <a:latin typeface="Helvetica"/>
              </a:rPr>
              <a:t>**Week 5** is buffer and nothing is scheduled into it that cannot move out.</a:t>
            </a:r>
          </a:p>
        </p:txBody>
      </p:sp>
      <p:sp>
        <p:nvSpPr>
          <p:cNvPr id="12" name="Rounded Rectangle 11"/>
          <p:cNvSpPr/>
          <p:nvPr/>
        </p:nvSpPr>
        <p:spPr>
          <a:xfrm>
            <a:off x="585216" y="4361687"/>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 y="4306823"/>
            <a:ext cx="3063239" cy="365760"/>
          </a:xfrm>
          <a:prstGeom prst="rect">
            <a:avLst/>
          </a:prstGeom>
          <a:noFill/>
        </p:spPr>
        <p:txBody>
          <a:bodyPr wrap="square">
            <a:spAutoFit/>
          </a:bodyPr>
          <a:lstStyle/>
          <a:p>
            <a:r>
              <a:rPr sz="1350" b="1">
                <a:solidFill>
                  <a:srgbClr val="1F2937"/>
                </a:solidFill>
                <a:latin typeface="Helvetica"/>
              </a:rPr>
              <a:t>Review points end weeks 1, 2, 3 and 5. Every action closes a named gap.</a:t>
            </a:r>
          </a:p>
        </p:txBody>
      </p:sp>
      <p:sp>
        <p:nvSpPr>
          <p:cNvPr id="14" name="TextBox 13"/>
          <p:cNvSpPr txBox="1"/>
          <p:nvPr/>
        </p:nvSpPr>
        <p:spPr>
          <a:xfrm>
            <a:off x="585216" y="6263640"/>
            <a:ext cx="7315200" cy="274320"/>
          </a:xfrm>
          <a:prstGeom prst="rect">
            <a:avLst/>
          </a:prstGeom>
          <a:noFill/>
        </p:spPr>
        <p:txBody>
          <a:bodyPr wrap="square">
            <a:spAutoFit/>
          </a:bodyPr>
          <a:lstStyle/>
          <a:p>
            <a:r>
              <a:rPr sz="900" b="0">
                <a:solidFill>
                  <a:srgbClr val="64748B"/>
                </a:solidFill>
                <a:latin typeface="Helvetica"/>
              </a:rPr>
              <a:t>The traceability pass is the deliverable, not the run.</a:t>
            </a:r>
          </a:p>
        </p:txBody>
      </p:sp>
      <p:pic>
        <p:nvPicPr>
          <p:cNvPr id="15" name="Picture 14" descr="calendar.png"/>
          <p:cNvPicPr>
            <a:picLocks noChangeAspect="1"/>
          </p:cNvPicPr>
          <p:nvPr/>
        </p:nvPicPr>
        <p:blipFill>
          <a:blip r:embed="rId2"/>
          <a:stretch>
            <a:fillRect/>
          </a:stretch>
        </p:blipFill>
        <p:spPr>
          <a:xfrm>
            <a:off x="4169663" y="1344168"/>
            <a:ext cx="7436815" cy="3962871"/>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5216" y="475488"/>
            <a:ext cx="10789920" cy="640080"/>
          </a:xfrm>
          <a:prstGeom prst="rect">
            <a:avLst/>
          </a:prstGeom>
          <a:noFill/>
        </p:spPr>
        <p:txBody>
          <a:bodyPr wrap="square">
            <a:spAutoFit/>
          </a:bodyPr>
          <a:lstStyle/>
          <a:p>
            <a:r>
              <a:rPr sz="3000" b="1">
                <a:solidFill>
                  <a:srgbClr val="1F2937"/>
                </a:solidFill>
                <a:latin typeface="Helvetica"/>
              </a:rPr>
              <a:t>Eleven sessions in six weeks</a:t>
            </a:r>
          </a:p>
        </p:txBody>
      </p:sp>
      <p:sp>
        <p:nvSpPr>
          <p:cNvPr id="3" name="TextBox 2"/>
          <p:cNvSpPr txBox="1"/>
          <p:nvPr/>
        </p:nvSpPr>
        <p:spPr>
          <a:xfrm>
            <a:off x="585216" y="960120"/>
            <a:ext cx="10424160" cy="731520"/>
          </a:xfrm>
          <a:prstGeom prst="rect">
            <a:avLst/>
          </a:prstGeom>
          <a:noFill/>
        </p:spPr>
        <p:txBody>
          <a:bodyPr wrap="square">
            <a:spAutoFit/>
          </a:bodyPr>
          <a:lstStyle/>
          <a:p>
            <a:r>
              <a:rPr sz="1700" b="0">
                <a:solidFill>
                  <a:srgbClr val="475569"/>
                </a:solidFill>
                <a:latin typeface="Helvetica"/>
              </a:rPr>
              <a:t>Being in the room and holding the ruling are different things, and the difference is the governance.</a:t>
            </a:r>
          </a:p>
        </p:txBody>
      </p:sp>
      <p:sp>
        <p:nvSpPr>
          <p:cNvPr id="4" name="Rounded Rectangle 3"/>
          <p:cNvSpPr/>
          <p:nvPr/>
        </p:nvSpPr>
        <p:spPr>
          <a:xfrm>
            <a:off x="585216" y="1399032"/>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6384" y="1344168"/>
            <a:ext cx="3063239" cy="365760"/>
          </a:xfrm>
          <a:prstGeom prst="rect">
            <a:avLst/>
          </a:prstGeom>
          <a:noFill/>
        </p:spPr>
        <p:txBody>
          <a:bodyPr wrap="square">
            <a:spAutoFit/>
          </a:bodyPr>
          <a:lstStyle/>
          <a:p>
            <a:r>
              <a:rPr sz="1350" b="1">
                <a:solidFill>
                  <a:srgbClr val="1F2937"/>
                </a:solidFill>
                <a:latin typeface="Helvetica"/>
              </a:rPr>
              <a:t>**Weeks 1 and 2 carry five of the eleven**, including the derate session, which needs Solis and Meridian in one room and is the expensive decision in the plan.</a:t>
            </a:r>
          </a:p>
        </p:txBody>
      </p:sp>
      <p:sp>
        <p:nvSpPr>
          <p:cNvPr id="6" name="Rounded Rectangle 5"/>
          <p:cNvSpPr/>
          <p:nvPr/>
        </p:nvSpPr>
        <p:spPr>
          <a:xfrm>
            <a:off x="585216" y="2459736"/>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 y="2404872"/>
            <a:ext cx="3063239" cy="365760"/>
          </a:xfrm>
          <a:prstGeom prst="rect">
            <a:avLst/>
          </a:prstGeom>
          <a:noFill/>
        </p:spPr>
        <p:txBody>
          <a:bodyPr wrap="square">
            <a:spAutoFit/>
          </a:bodyPr>
          <a:lstStyle/>
          <a:p>
            <a:r>
              <a:rPr sz="1350" b="1">
                <a:solidFill>
                  <a:srgbClr val="1F2937"/>
                </a:solidFill>
                <a:latin typeface="Helvetica"/>
              </a:rPr>
              <a:t>**Two to three touchpoints a week** for the coordinator, then a weekly thirty minute standup through week 5.</a:t>
            </a:r>
          </a:p>
        </p:txBody>
      </p:sp>
      <p:sp>
        <p:nvSpPr>
          <p:cNvPr id="8" name="Rounded Rectangle 7"/>
          <p:cNvSpPr/>
          <p:nvPr/>
        </p:nvSpPr>
        <p:spPr>
          <a:xfrm>
            <a:off x="585216" y="3337560"/>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3282696"/>
            <a:ext cx="3063239" cy="365760"/>
          </a:xfrm>
          <a:prstGeom prst="rect">
            <a:avLst/>
          </a:prstGeom>
          <a:noFill/>
        </p:spPr>
        <p:txBody>
          <a:bodyPr wrap="square">
            <a:spAutoFit/>
          </a:bodyPr>
          <a:lstStyle/>
          <a:p>
            <a:r>
              <a:rPr sz="1350" b="1">
                <a:solidFill>
                  <a:srgbClr val="1F2937"/>
                </a:solidFill>
                <a:latin typeface="Helvetica"/>
              </a:rPr>
              <a:t>**Helix is in seven of eleven rooms and holds none of the rulings.** It must be present when the contract it already built against is settled. It cannot hold the decision, because converting between vocabularies confers no standing to rule on meaning.</a:t>
            </a:r>
          </a:p>
        </p:txBody>
      </p:sp>
      <p:sp>
        <p:nvSpPr>
          <p:cNvPr id="10" name="Rounded Rectangle 9"/>
          <p:cNvSpPr/>
          <p:nvPr/>
        </p:nvSpPr>
        <p:spPr>
          <a:xfrm>
            <a:off x="585216" y="4764023"/>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4709159"/>
            <a:ext cx="3063239" cy="365760"/>
          </a:xfrm>
          <a:prstGeom prst="rect">
            <a:avLst/>
          </a:prstGeom>
          <a:noFill/>
        </p:spPr>
        <p:txBody>
          <a:bodyPr wrap="square">
            <a:spAutoFit/>
          </a:bodyPr>
          <a:lstStyle/>
          <a:p>
            <a:r>
              <a:rPr sz="1350" b="1">
                <a:solidFill>
                  <a:srgbClr val="1F2937"/>
                </a:solidFill>
                <a:latin typeface="Helvetica"/>
              </a:rPr>
              <a:t>It also holds the only working transport code for the exchange that already failed. We cannot tell from the case study material whether that helps, so the plan gains if it does and loses nothing if it does not.</a:t>
            </a:r>
          </a:p>
        </p:txBody>
      </p:sp>
      <p:sp>
        <p:nvSpPr>
          <p:cNvPr id="12" name="TextBox 11"/>
          <p:cNvSpPr txBox="1"/>
          <p:nvPr/>
        </p:nvSpPr>
        <p:spPr>
          <a:xfrm>
            <a:off x="585216" y="6263640"/>
            <a:ext cx="7315200" cy="274320"/>
          </a:xfrm>
          <a:prstGeom prst="rect">
            <a:avLst/>
          </a:prstGeom>
          <a:noFill/>
        </p:spPr>
        <p:txBody>
          <a:bodyPr wrap="square">
            <a:spAutoFit/>
          </a:bodyPr>
          <a:lstStyle/>
          <a:p>
            <a:r>
              <a:rPr sz="900" b="0">
                <a:solidFill>
                  <a:srgbClr val="64748B"/>
                </a:solidFill>
                <a:latin typeface="Helvetica"/>
              </a:rPr>
              <a:t>Two to three touchpoints a week for the coordinator. The schedule is data in the repository, and a test asserts the seating rule.</a:t>
            </a:r>
          </a:p>
        </p:txBody>
      </p:sp>
      <p:pic>
        <p:nvPicPr>
          <p:cNvPr id="13" name="Picture 12" descr="roommap.png"/>
          <p:cNvPicPr>
            <a:picLocks noChangeAspect="1"/>
          </p:cNvPicPr>
          <p:nvPr/>
        </p:nvPicPr>
        <p:blipFill>
          <a:blip r:embed="rId2"/>
          <a:stretch>
            <a:fillRect/>
          </a:stretch>
        </p:blipFill>
        <p:spPr>
          <a:xfrm>
            <a:off x="4169663" y="1344168"/>
            <a:ext cx="7436815" cy="2741062"/>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5216" y="475488"/>
            <a:ext cx="10789920" cy="640080"/>
          </a:xfrm>
          <a:prstGeom prst="rect">
            <a:avLst/>
          </a:prstGeom>
          <a:noFill/>
        </p:spPr>
        <p:txBody>
          <a:bodyPr wrap="square">
            <a:spAutoFit/>
          </a:bodyPr>
          <a:lstStyle/>
          <a:p>
            <a:r>
              <a:rPr sz="3000" b="1">
                <a:solidFill>
                  <a:srgbClr val="1F2937"/>
                </a:solidFill>
                <a:latin typeface="Helvetica"/>
              </a:rPr>
              <a:t>Nobody has to be persuaded</a:t>
            </a:r>
          </a:p>
        </p:txBody>
      </p:sp>
      <p:sp>
        <p:nvSpPr>
          <p:cNvPr id="3" name="TextBox 2"/>
          <p:cNvSpPr txBox="1"/>
          <p:nvPr/>
        </p:nvSpPr>
        <p:spPr>
          <a:xfrm>
            <a:off x="585216" y="960120"/>
            <a:ext cx="10424160" cy="731520"/>
          </a:xfrm>
          <a:prstGeom prst="rect">
            <a:avLst/>
          </a:prstGeom>
          <a:noFill/>
        </p:spPr>
        <p:txBody>
          <a:bodyPr wrap="square">
            <a:spAutoFit/>
          </a:bodyPr>
          <a:lstStyle/>
          <a:p>
            <a:r>
              <a:rPr sz="1700" b="0">
                <a:solidFill>
                  <a:srgbClr val="475569"/>
                </a:solidFill>
                <a:latin typeface="Helvetica"/>
              </a:rPr>
              <a:t>Every partner is worse off under the status quo, and three do not yet know how.</a:t>
            </a:r>
          </a:p>
        </p:txBody>
      </p:sp>
      <p:sp>
        <p:nvSpPr>
          <p:cNvPr id="4" name="Rounded Rectangle 3"/>
          <p:cNvSpPr/>
          <p:nvPr/>
        </p:nvSpPr>
        <p:spPr>
          <a:xfrm>
            <a:off x="585216" y="1719072"/>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6384" y="1664207"/>
            <a:ext cx="10222992" cy="365760"/>
          </a:xfrm>
          <a:prstGeom prst="rect">
            <a:avLst/>
          </a:prstGeom>
          <a:noFill/>
        </p:spPr>
        <p:txBody>
          <a:bodyPr wrap="square">
            <a:spAutoFit/>
          </a:bodyPr>
          <a:lstStyle/>
          <a:p>
            <a:r>
              <a:rPr sz="1350" b="1">
                <a:solidFill>
                  <a:srgbClr val="1F2937"/>
                </a:solidFill>
                <a:latin typeface="Helvetica"/>
              </a:rPr>
              <a:t>**Helix** has built against a provisional reading. A declared contract is the only outcome in which that work survives. Approach first.</a:t>
            </a:r>
          </a:p>
        </p:txBody>
      </p:sp>
      <p:sp>
        <p:nvSpPr>
          <p:cNvPr id="6" name="Rounded Rectangle 5"/>
          <p:cNvSpPr/>
          <p:nvPr/>
        </p:nvSpPr>
        <p:spPr>
          <a:xfrm>
            <a:off x="585216" y="2779775"/>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 y="2724911"/>
            <a:ext cx="10222992" cy="365760"/>
          </a:xfrm>
          <a:prstGeom prst="rect">
            <a:avLst/>
          </a:prstGeom>
          <a:noFill/>
        </p:spPr>
        <p:txBody>
          <a:bodyPr wrap="square">
            <a:spAutoFit/>
          </a:bodyPr>
          <a:lstStyle/>
          <a:p>
            <a:r>
              <a:rPr sz="1350" b="1">
                <a:solidFill>
                  <a:srgbClr val="1F2937"/>
                </a:solidFill>
                <a:latin typeface="Helvetica"/>
              </a:rPr>
              <a:t>**Meridian** has already asked for the uncertainty clause, in the form of an objection. Agree with it in public.</a:t>
            </a:r>
          </a:p>
        </p:txBody>
      </p:sp>
      <p:sp>
        <p:nvSpPr>
          <p:cNvPr id="8" name="Rounded Rectangle 7"/>
          <p:cNvSpPr/>
          <p:nvPr/>
        </p:nvSpPr>
        <p:spPr>
          <a:xfrm>
            <a:off x="585216" y="3657599"/>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3602735"/>
            <a:ext cx="10222992" cy="365760"/>
          </a:xfrm>
          <a:prstGeom prst="rect">
            <a:avLst/>
          </a:prstGeom>
          <a:noFill/>
        </p:spPr>
        <p:txBody>
          <a:bodyPr wrap="square">
            <a:spAutoFit/>
          </a:bodyPr>
          <a:lstStyle/>
          <a:p>
            <a:r>
              <a:rPr sz="1350" b="1">
                <a:solidFill>
                  <a:srgbClr val="1F2937"/>
                </a:solidFill>
                <a:latin typeface="Helvetica"/>
              </a:rPr>
              <a:t>**Solis** is being judged on a derate function it never saw. Declaring its units is how it takes back control of how its own design is evaluated.</a:t>
            </a:r>
          </a:p>
        </p:txBody>
      </p:sp>
      <p:sp>
        <p:nvSpPr>
          <p:cNvPr id="10" name="Rounded Rectangle 9"/>
          <p:cNvSpPr/>
          <p:nvPr/>
        </p:nvSpPr>
        <p:spPr>
          <a:xfrm>
            <a:off x="585216" y="4718303"/>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4663440"/>
            <a:ext cx="10222992" cy="365760"/>
          </a:xfrm>
          <a:prstGeom prst="rect">
            <a:avLst/>
          </a:prstGeom>
          <a:noFill/>
        </p:spPr>
        <p:txBody>
          <a:bodyPr wrap="square">
            <a:spAutoFit/>
          </a:bodyPr>
          <a:lstStyle/>
          <a:p>
            <a:r>
              <a:rPr sz="1350" b="1">
                <a:solidFill>
                  <a:srgbClr val="1F2937"/>
                </a:solidFill>
                <a:latin typeface="Helvetica"/>
              </a:rPr>
              <a:t>**Tharsis** carries the blame for thresholds it was never sent and a schedule nobody owns. Declaring the routes moves that liability to where it belongs.</a:t>
            </a:r>
          </a:p>
        </p:txBody>
      </p:sp>
      <p:sp>
        <p:nvSpPr>
          <p:cNvPr id="12" name="Rounded Rectangle 11"/>
          <p:cNvSpPr/>
          <p:nvPr/>
        </p:nvSpPr>
        <p:spPr>
          <a:xfrm>
            <a:off x="585216" y="5779007"/>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 y="5724144"/>
            <a:ext cx="10222992" cy="365760"/>
          </a:xfrm>
          <a:prstGeom prst="rect">
            <a:avLst/>
          </a:prstGeom>
          <a:noFill/>
        </p:spPr>
        <p:txBody>
          <a:bodyPr wrap="square">
            <a:spAutoFit/>
          </a:bodyPr>
          <a:lstStyle/>
          <a:p>
            <a:r>
              <a:rPr sz="1350" b="1">
                <a:solidFill>
                  <a:srgbClr val="1F2937"/>
                </a:solidFill>
                <a:latin typeface="Helvetica"/>
              </a:rPr>
              <a:t>In an acute crisis partners accept direction they would decline in business as usual, and that window closes as soon as the crisis is declared over. Week 1 uses it.</a:t>
            </a:r>
          </a:p>
        </p:txBody>
      </p:sp>
      <p:sp>
        <p:nvSpPr>
          <p:cNvPr id="14" name="TextBox 13"/>
          <p:cNvSpPr txBox="1"/>
          <p:nvPr/>
        </p:nvSpPr>
        <p:spPr>
          <a:xfrm>
            <a:off x="585216" y="6263640"/>
            <a:ext cx="7315200" cy="274320"/>
          </a:xfrm>
          <a:prstGeom prst="rect">
            <a:avLst/>
          </a:prstGeom>
          <a:noFill/>
        </p:spPr>
        <p:txBody>
          <a:bodyPr wrap="square">
            <a:spAutoFit/>
          </a:bodyPr>
          <a:lstStyle/>
          <a:p>
            <a:r>
              <a:rPr sz="900" b="0">
                <a:solidFill>
                  <a:srgbClr val="64748B"/>
                </a:solidFill>
                <a:latin typeface="Helvetica"/>
              </a:rPr>
              <a:t>Authority here is convening plus the diagnosis. The diagnosis does the work.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5216" y="475488"/>
            <a:ext cx="10789920" cy="640080"/>
          </a:xfrm>
          <a:prstGeom prst="rect">
            <a:avLst/>
          </a:prstGeom>
          <a:noFill/>
        </p:spPr>
        <p:txBody>
          <a:bodyPr wrap="square">
            <a:spAutoFit/>
          </a:bodyPr>
          <a:lstStyle/>
          <a:p>
            <a:r>
              <a:rPr sz="3000" b="1">
                <a:solidFill>
                  <a:srgbClr val="1F2937"/>
                </a:solidFill>
                <a:latin typeface="Helvetica"/>
              </a:rPr>
              <a:t>The artifact, and what it does not establish</a:t>
            </a:r>
          </a:p>
        </p:txBody>
      </p:sp>
      <p:sp>
        <p:nvSpPr>
          <p:cNvPr id="3" name="TextBox 2"/>
          <p:cNvSpPr txBox="1"/>
          <p:nvPr/>
        </p:nvSpPr>
        <p:spPr>
          <a:xfrm>
            <a:off x="585216" y="960120"/>
            <a:ext cx="10424160" cy="731520"/>
          </a:xfrm>
          <a:prstGeom prst="rect">
            <a:avLst/>
          </a:prstGeom>
          <a:noFill/>
        </p:spPr>
        <p:txBody>
          <a:bodyPr wrap="square">
            <a:spAutoFit/>
          </a:bodyPr>
          <a:lstStyle/>
          <a:p>
            <a:r>
              <a:rPr sz="1700" b="0">
                <a:solidFill>
                  <a:srgbClr val="475569"/>
                </a:solidFill>
                <a:latin typeface="Helvetica"/>
              </a:rPr>
              <a:t>430 clause cells across 43 declarations. 35 are stated.</a:t>
            </a:r>
          </a:p>
        </p:txBody>
      </p:sp>
      <p:sp>
        <p:nvSpPr>
          <p:cNvPr id="4" name="Rounded Rectangle 3"/>
          <p:cNvSpPr/>
          <p:nvPr/>
        </p:nvSpPr>
        <p:spPr>
          <a:xfrm>
            <a:off x="585216" y="1399032"/>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6384" y="1344168"/>
            <a:ext cx="3063239" cy="365760"/>
          </a:xfrm>
          <a:prstGeom prst="rect">
            <a:avLst/>
          </a:prstGeom>
          <a:noFill/>
        </p:spPr>
        <p:txBody>
          <a:bodyPr wrap="square">
            <a:spAutoFit/>
          </a:bodyPr>
          <a:lstStyle/>
          <a:p>
            <a:r>
              <a:rPr sz="1350" b="1">
                <a:solidFill>
                  <a:srgbClr val="1F2937"/>
                </a:solidFill>
                <a:latin typeface="Helvetica"/>
              </a:rPr>
              <a:t>Reads four declarations in four incompatible formats and applies seven general rules. None names a partner, an item or a gap.</a:t>
            </a:r>
          </a:p>
        </p:txBody>
      </p:sp>
      <p:sp>
        <p:nvSpPr>
          <p:cNvPr id="6" name="Rounded Rectangle 5"/>
          <p:cNvSpPr/>
          <p:nvPr/>
        </p:nvSpPr>
        <p:spPr>
          <a:xfrm>
            <a:off x="585216" y="2276856"/>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 y="2221991"/>
            <a:ext cx="3063239" cy="365760"/>
          </a:xfrm>
          <a:prstGeom prst="rect">
            <a:avLst/>
          </a:prstGeom>
          <a:noFill/>
        </p:spPr>
        <p:txBody>
          <a:bodyPr wrap="square">
            <a:spAutoFit/>
          </a:bodyPr>
          <a:lstStyle/>
          <a:p>
            <a:r>
              <a:rPr sz="1350" b="1">
                <a:solidFill>
                  <a:srgbClr val="1F2937"/>
                </a:solidFill>
                <a:latin typeface="Helvetica"/>
              </a:rPr>
              <a:t>**Five clauses are absent in all 43 declarations**: uncertainty, spatial resolution, scenario identity, cadence, encoding. Never stated, never even inferable.</a:t>
            </a:r>
          </a:p>
        </p:txBody>
      </p:sp>
      <p:sp>
        <p:nvSpPr>
          <p:cNvPr id="8" name="Rounded Rectangle 7"/>
          <p:cNvSpPr/>
          <p:nvPr/>
        </p:nvSpPr>
        <p:spPr>
          <a:xfrm>
            <a:off x="585216" y="3337560"/>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3282696"/>
            <a:ext cx="3063239" cy="365760"/>
          </a:xfrm>
          <a:prstGeom prst="rect">
            <a:avLst/>
          </a:prstGeom>
          <a:noFill/>
        </p:spPr>
        <p:txBody>
          <a:bodyPr wrap="square">
            <a:spAutoFit/>
          </a:bodyPr>
          <a:lstStyle/>
          <a:p>
            <a:r>
              <a:rPr sz="1350" b="1">
                <a:solidFill>
                  <a:srgbClr val="1F2937"/>
                </a:solidFill>
                <a:latin typeface="Helvetica"/>
              </a:rPr>
              <a:t>The whole consortium yields one identifiable exchange, and that one is broken three ways at once.</a:t>
            </a:r>
          </a:p>
        </p:txBody>
      </p:sp>
      <p:sp>
        <p:nvSpPr>
          <p:cNvPr id="10" name="Rounded Rectangle 9"/>
          <p:cNvSpPr/>
          <p:nvPr/>
        </p:nvSpPr>
        <p:spPr>
          <a:xfrm>
            <a:off x="585216" y="4215383"/>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4160520"/>
            <a:ext cx="3063239" cy="365760"/>
          </a:xfrm>
          <a:prstGeom prst="rect">
            <a:avLst/>
          </a:prstGeom>
          <a:noFill/>
        </p:spPr>
        <p:txBody>
          <a:bodyPr wrap="square">
            <a:spAutoFit/>
          </a:bodyPr>
          <a:lstStyle/>
          <a:p>
            <a:r>
              <a:rPr sz="1350" b="1">
                <a:solidFill>
                  <a:srgbClr val="1F2937"/>
                </a:solidFill>
                <a:latin typeface="Helvetica"/>
              </a:rPr>
              <a:t>**Deterministic rule code, with no model inside it.** A finding that four disagreeing institutions have to accept must be reproducible byte for byte and legible in a function.</a:t>
            </a:r>
          </a:p>
        </p:txBody>
      </p:sp>
      <p:sp>
        <p:nvSpPr>
          <p:cNvPr id="12" name="Rounded Rectangle 11"/>
          <p:cNvSpPr/>
          <p:nvPr/>
        </p:nvSpPr>
        <p:spPr>
          <a:xfrm>
            <a:off x="585216" y="5276088"/>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 y="5221224"/>
            <a:ext cx="3063239" cy="365760"/>
          </a:xfrm>
          <a:prstGeom prst="rect">
            <a:avLst/>
          </a:prstGeom>
          <a:noFill/>
        </p:spPr>
        <p:txBody>
          <a:bodyPr wrap="square">
            <a:spAutoFit/>
          </a:bodyPr>
          <a:lstStyle/>
          <a:p>
            <a:r>
              <a:rPr sz="1350" b="1">
                <a:solidFill>
                  <a:srgbClr val="1F2937"/>
                </a:solidFill>
                <a:latin typeface="Helvetica"/>
              </a:rPr>
              <a:t>**What it does not establish.** It cannot tell you which variables are actually disputed. That ARES cannot answer that in month 8 is itself the finding.</a:t>
            </a:r>
          </a:p>
        </p:txBody>
      </p:sp>
      <p:sp>
        <p:nvSpPr>
          <p:cNvPr id="14" name="TextBox 13"/>
          <p:cNvSpPr txBox="1"/>
          <p:nvPr/>
        </p:nvSpPr>
        <p:spPr>
          <a:xfrm>
            <a:off x="585216" y="6263640"/>
            <a:ext cx="7315200" cy="274320"/>
          </a:xfrm>
          <a:prstGeom prst="rect">
            <a:avLst/>
          </a:prstGeom>
          <a:noFill/>
        </p:spPr>
        <p:txBody>
          <a:bodyPr wrap="square">
            <a:spAutoFit/>
          </a:bodyPr>
          <a:lstStyle/>
          <a:p>
            <a:r>
              <a:rPr sz="900" b="0">
                <a:solidFill>
                  <a:srgbClr val="64748B"/>
                </a:solidFill>
                <a:latin typeface="Helvetica"/>
              </a:rPr>
              <a:t>Runs offline from one command. No network, no dependencies, no framework. AI use is disclosed in full at docs/ai_use.md.</a:t>
            </a:r>
          </a:p>
        </p:txBody>
      </p:sp>
      <p:pic>
        <p:nvPicPr>
          <p:cNvPr id="15" name="Picture 14" descr="clause_matrix.png"/>
          <p:cNvPicPr>
            <a:picLocks noChangeAspect="1"/>
          </p:cNvPicPr>
          <p:nvPr/>
        </p:nvPicPr>
        <p:blipFill>
          <a:blip r:embed="rId2"/>
          <a:stretch>
            <a:fillRect/>
          </a:stretch>
        </p:blipFill>
        <p:spPr>
          <a:xfrm>
            <a:off x="4169663" y="1344168"/>
            <a:ext cx="7436815" cy="4779734"/>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