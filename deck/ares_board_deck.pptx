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The value of this slide is that it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Counter-case: loose coupling is defensible for a planning study and indefensible for a resilience claim. The funder is buying a resilience claim.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traceability pass is the deliverable, not the run. Those four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bullet is the one to say out loud. It is a governance point dressed as a seating plan. Helix is in the room because it has the only working transport code for the failing exchange, which could get week 2 running in days. The plan benefits from that without depending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neutral checker reporting that two partners exchange something neither declares makes the gap a property of the interface rather than an accusation against a partner.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in three minutes: run it, show the calendar, select an orphaned item, show the finding, open the declaration and read the sentence it came from. Close on the limits.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This is triage</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Four things have gone wrong at month 8. They are four views of one missing artifact.</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**An exchange is two months late and in the wrong format.** Cadence, latency and encoding were never contract terms. An exchange cannot be late against a deadline nobody set.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**Two partners dispute what variables mean and who owns them.** The variables have no declared owner, so the partner that needed names invented them and built against them.</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**The risk laboratory says the interface cannot carry its claims.** It has no uncertainty clause. That is a missing clause, not a complaint about quality.</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**Nobody has shown the coupling is necessary.** The operators that bridge hourly simulation to multi-year planning are owned by no one.</a:t>
            </a:r>
          </a:p>
        </p:txBody>
      </p:sp>
      <p:sp>
        <p:nvSpPr>
          <p:cNvPr id="12" name="Rounded Rectangle 11"/>
          <p:cNvSpPr/>
          <p:nvPr/>
        </p:nvSpPr>
        <p:spPr>
          <a:xfrm>
            <a:off x="585216" y="59618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907024"/>
            <a:ext cx="10222992" cy="365760"/>
          </a:xfrm>
          <a:prstGeom prst="rect">
            <a:avLst/>
          </a:prstGeom>
          <a:noFill/>
        </p:spPr>
        <p:txBody>
          <a:bodyPr wrap="square">
            <a:spAutoFit/>
          </a:bodyPr>
          <a:lstStyle/>
          <a:p>
            <a:r>
              <a:rPr sz="1350" b="1">
                <a:solidFill>
                  <a:srgbClr val="1F2937"/>
                </a:solidFill>
                <a:latin typeface="Helvetica"/>
              </a:rPr>
              <a:t>Second-year funding depends on a demonstration. This is a crisis to be stabilised, not a programme to be improved.</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None of the four is a failure of effort. Four workstreams aimed at them separately would each address a symptom.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Four objects nobody owns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Read off the partners' own consumes and produces clauses. Nothing inferred.</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**The aggregation operator.** Solis plans against bounds over multi-year horizons, Tharsis emits hourly traces, and the conversion needs a judgement about statistic and window that no interface claims.</a:t>
            </a:r>
          </a:p>
        </p:txBody>
      </p:sp>
      <p:sp>
        <p:nvSpPr>
          <p:cNvPr id="6" name="Rounded Rectangle 5"/>
          <p:cNvSpPr/>
          <p:nvPr/>
        </p:nvSpPr>
        <p:spPr>
          <a:xfrm>
            <a:off x="585216" y="296265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907791"/>
            <a:ext cx="10222992" cy="365760"/>
          </a:xfrm>
          <a:prstGeom prst="rect">
            <a:avLst/>
          </a:prstGeom>
          <a:noFill/>
        </p:spPr>
        <p:txBody>
          <a:bodyPr wrap="square">
            <a:spAutoFit/>
          </a:bodyPr>
          <a:lstStyle/>
          <a:p>
            <a:r>
              <a:rPr sz="1350" b="1">
                <a:solidFill>
                  <a:srgbClr val="1F2937"/>
                </a:solidFill>
                <a:latin typeface="Helvetica"/>
              </a:rPr>
              <a:t>**The derate function.** Solis publishes installed capacity, Tharsis needs available capacity, and Tharsis applies its own derate fitted to a memo predating the configuration.</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**The service level thresholds.** Meridian defines what counts as acceptable and has no route to the model that applies it. Tharsis uses limits it took from a public standard instead.</a:t>
            </a:r>
          </a:p>
        </p:txBody>
      </p:sp>
      <p:sp>
        <p:nvSpPr>
          <p:cNvPr id="10" name="Rounded Rectangle 9"/>
          <p:cNvSpPr/>
          <p:nvPr/>
        </p:nvSpPr>
        <p:spPr>
          <a:xfrm>
            <a:off x="585216" y="52669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212079"/>
            <a:ext cx="10222992" cy="365760"/>
          </a:xfrm>
          <a:prstGeom prst="rect">
            <a:avLst/>
          </a:prstGeom>
          <a:noFill/>
        </p:spPr>
        <p:txBody>
          <a:bodyPr wrap="square">
            <a:spAutoFit/>
          </a:bodyPr>
          <a:lstStyle/>
          <a:p>
            <a:r>
              <a:rPr sz="1350" b="1">
                <a:solidFill>
                  <a:srgbClr val="1F2937"/>
                </a:solidFill>
                <a:latin typeface="Helvetica"/>
              </a:rPr>
              <a:t>**The population schedule.** The largest single driver of hourly demand. Consumed by Tharsis, produced by nobody, versioned by no one.</a:t>
            </a:r>
          </a:p>
        </p:txBody>
      </p:sp>
      <p:sp>
        <p:nvSpPr>
          <p:cNvPr id="12" name="Rounded Rectangle 11"/>
          <p:cNvSpPr/>
          <p:nvPr/>
        </p:nvSpPr>
        <p:spPr>
          <a:xfrm>
            <a:off x="585216" y="632764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6272783"/>
            <a:ext cx="10222992" cy="365760"/>
          </a:xfrm>
          <a:prstGeom prst="rect">
            <a:avLst/>
          </a:prstGeom>
          <a:noFill/>
        </p:spPr>
        <p:txBody>
          <a:bodyPr wrap="square">
            <a:spAutoFit/>
          </a:bodyPr>
          <a:lstStyle/>
          <a:p>
            <a:r>
              <a:rPr sz="1350" b="1">
                <a:solidFill>
                  <a:srgbClr val="1F2937"/>
                </a:solidFill>
                <a:latin typeface="Helvetica"/>
              </a:rPr>
              <a:t>Of six possible partner pairs, two are stated. No interface variable is named anywhere, in any direction, by any partner.</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 private assumption is invisible in a status meeting and lethal in an integration.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Tight coupling is necessary, which is why the contract comes first</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Supply and demand share a driver, so exchanging bounds once destroys the thing being tested.</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In the 2018 planet-encircling dust event, one rover's array output fell from 645 Wh to 22 Wh in eleven days, about 3 percent of clear-sky baseline.</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The same storm drives crew indoors, changes activity schedules, raises thermal load and shifts life support duty cycles. Generation falls and demand rises together, because both answer to the same weather.</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Exchange bounds once and that correlation is gone by construction. What returns is a worst-case supply and a worst-case demand as two numbers, when the coincidence is what ends a settlement.</a:t>
            </a:r>
          </a:p>
        </p:txBody>
      </p:sp>
      <p:sp>
        <p:nvSpPr>
          <p:cNvPr id="10" name="Rounded Rectangle 9"/>
          <p:cNvSpPr/>
          <p:nvPr/>
        </p:nvSpPr>
        <p:spPr>
          <a:xfrm>
            <a:off x="585216" y="52669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212079"/>
            <a:ext cx="10222992" cy="365760"/>
          </a:xfrm>
          <a:prstGeom prst="rect">
            <a:avLst/>
          </a:prstGeom>
          <a:noFill/>
        </p:spPr>
        <p:txBody>
          <a:bodyPr wrap="square">
            <a:spAutoFit/>
          </a:bodyPr>
          <a:lstStyle/>
          <a:p>
            <a:r>
              <a:rPr sz="1350" b="1">
                <a:solidFill>
                  <a:srgbClr val="1F2937"/>
                </a:solidFill>
                <a:latin typeface="Helvetica"/>
              </a:rPr>
              <a:t>That is what the risk laboratory means by compound events. Its objection and the coupling question are one question.</a:t>
            </a:r>
          </a:p>
        </p:txBody>
      </p:sp>
      <p:sp>
        <p:nvSpPr>
          <p:cNvPr id="12" name="Rounded Rectangle 11"/>
          <p:cNvSpPr/>
          <p:nvPr/>
        </p:nvSpPr>
        <p:spPr>
          <a:xfrm>
            <a:off x="585216" y="614476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6089903"/>
            <a:ext cx="10222992" cy="365760"/>
          </a:xfrm>
          <a:prstGeom prst="rect">
            <a:avLst/>
          </a:prstGeom>
          <a:noFill/>
        </p:spPr>
        <p:txBody>
          <a:bodyPr wrap="square">
            <a:spAutoFit/>
          </a:bodyPr>
          <a:lstStyle/>
          <a:p>
            <a:r>
              <a:rPr sz="1350" b="1">
                <a:solidFill>
                  <a:srgbClr val="1F2937"/>
                </a:solidFill>
                <a:latin typeface="Helvetica"/>
              </a:rPr>
              <a:t>**Coupling tightly across three vocabularies and two clocks does not fail loudly. It agrees quickly and wrongly, once per timestep.**</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The brief invites the opposite case. This is why it was rejected rather than not chosen.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Six weeks, and never nothing to show</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From week 2 the demonstration runs. Every week after improves it rather than building toward a first one.</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**Week 2 runs end to end on deliberately crude inputs.** Placeholder numbers, one sol of data, nothing polished. Its only job is to make every format, encoding and calendar mismatch fail while there is time to fix them.</a:t>
            </a:r>
          </a:p>
        </p:txBody>
      </p:sp>
      <p:sp>
        <p:nvSpPr>
          <p:cNvPr id="6" name="Rounded Rectangle 5"/>
          <p:cNvSpPr/>
          <p:nvPr/>
        </p:nvSpPr>
        <p:spPr>
          <a:xfrm>
            <a:off x="585216" y="296265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907791"/>
            <a:ext cx="10222992" cy="365760"/>
          </a:xfrm>
          <a:prstGeom prst="rect">
            <a:avLst/>
          </a:prstGeom>
          <a:noFill/>
        </p:spPr>
        <p:txBody>
          <a:bodyPr wrap="square">
            <a:spAutoFit/>
          </a:bodyPr>
          <a:lstStyle/>
          <a:p>
            <a:r>
              <a:rPr sz="1350" b="1">
                <a:solidFill>
                  <a:srgbClr val="1F2937"/>
                </a:solidFill>
                <a:latin typeface="Helvetica"/>
              </a:rPr>
              <a:t>The consortium is at month 8 and has never run end to end. An exchange arriving late and in an unexpected format is what that produces.</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**Each week's output is a superset of the last.** The worst case in week 6 is showing week 5's version.</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**Week 5 is buffer**, and nothing is scheduled into it that cannot move out. A plan with no slack assumes nothing goes wrong.</a:t>
            </a:r>
          </a:p>
        </p:txBody>
      </p:sp>
      <p:sp>
        <p:nvSpPr>
          <p:cNvPr id="12" name="Rounded Rectangle 11"/>
          <p:cNvSpPr/>
          <p:nvPr/>
        </p:nvSpPr>
        <p:spPr>
          <a:xfrm>
            <a:off x="585216" y="57790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24144"/>
            <a:ext cx="10222992" cy="365760"/>
          </a:xfrm>
          <a:prstGeom prst="rect">
            <a:avLst/>
          </a:prstGeom>
          <a:noFill/>
        </p:spPr>
        <p:txBody>
          <a:bodyPr wrap="square">
            <a:spAutoFit/>
          </a:bodyPr>
          <a:lstStyle/>
          <a:p>
            <a:r>
              <a:rPr sz="1350" b="1">
                <a:solidFill>
                  <a:srgbClr val="1F2937"/>
                </a:solidFill>
                <a:latin typeface="Helvetica"/>
              </a:rPr>
              <a:t>No week in this plan answers the question 'what can you show us' with nothing, because that answer ends the programme.</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 big-bang week. No first attempt in front of the funder.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Two tracks in parallel, one end-to-end run in week 2, one week of slack, four days of rehearsal.</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**Weeks 1 to 3, track A.** Solis to Tharsis, the exchange that already failed. Calendar and epoch, the aggregation, the derate, the schedule owner, units and encoding. The derate is the expensive one, because it means Solis says publicly how its capacity degrades.</a:t>
            </a:r>
          </a:p>
        </p:txBody>
      </p:sp>
      <p:sp>
        <p:nvSpPr>
          <p:cNvPr id="6" name="Rounded Rectangle 5"/>
          <p:cNvSpPr/>
          <p:nvPr/>
        </p:nvSpPr>
        <p:spPr>
          <a:xfrm>
            <a:off x="585216" y="332841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3273552"/>
            <a:ext cx="10222992" cy="365760"/>
          </a:xfrm>
          <a:prstGeom prst="rect">
            <a:avLst/>
          </a:prstGeom>
          <a:noFill/>
        </p:spPr>
        <p:txBody>
          <a:bodyPr wrap="square">
            <a:spAutoFit/>
          </a:bodyPr>
          <a:lstStyle/>
          <a:p>
            <a:r>
              <a:rPr sz="1350" b="1">
                <a:solidFill>
                  <a:srgbClr val="1F2937"/>
                </a:solidFill>
                <a:latin typeface="Helvetica"/>
              </a:rPr>
              <a:t>**Weeks 1 to 3, track B.** Meridian's evidence requirement, its thresholds routed to the model that applies them, and the stress event chosen. In parallel, because what it requires changes what track A must carry.</a:t>
            </a:r>
          </a:p>
        </p:txBody>
      </p:sp>
      <p:sp>
        <p:nvSpPr>
          <p:cNvPr id="8" name="Rounded Rectangle 7"/>
          <p:cNvSpPr/>
          <p:nvPr/>
        </p:nvSpPr>
        <p:spPr>
          <a:xfrm>
            <a:off x="585216" y="45719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517136"/>
            <a:ext cx="10222992" cy="365760"/>
          </a:xfrm>
          <a:prstGeom prst="rect">
            <a:avLst/>
          </a:prstGeom>
          <a:noFill/>
        </p:spPr>
        <p:txBody>
          <a:bodyPr wrap="square">
            <a:spAutoFit/>
          </a:bodyPr>
          <a:lstStyle/>
          <a:p>
            <a:r>
              <a:rPr sz="1350" b="1">
                <a:solidFill>
                  <a:srgbClr val="1F2937"/>
                </a:solidFill>
                <a:latin typeface="Helvetica"/>
              </a:rPr>
              <a:t>**Week 2.** Contract v0, and the skeleton runs.</a:t>
            </a:r>
          </a:p>
        </p:txBody>
      </p:sp>
      <p:sp>
        <p:nvSpPr>
          <p:cNvPr id="10" name="Rounded Rectangle 9"/>
          <p:cNvSpPr/>
          <p:nvPr/>
        </p:nvSpPr>
        <p:spPr>
          <a:xfrm>
            <a:off x="585216" y="52669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212079"/>
            <a:ext cx="10222992" cy="365760"/>
          </a:xfrm>
          <a:prstGeom prst="rect">
            <a:avLst/>
          </a:prstGeom>
          <a:noFill/>
        </p:spPr>
        <p:txBody>
          <a:bodyPr wrap="square">
            <a:spAutoFit/>
          </a:bodyPr>
          <a:lstStyle/>
          <a:p>
            <a:r>
              <a:rPr sz="1350" b="1">
                <a:solidFill>
                  <a:srgbClr val="1F2937"/>
                </a:solidFill>
                <a:latin typeface="Helvetica"/>
              </a:rPr>
              <a:t>**Weeks 3 and 4.** Normal case, then the stress event run iterated, with the derate taken from shared declared state rather than privately.</a:t>
            </a:r>
          </a:p>
        </p:txBody>
      </p:sp>
      <p:sp>
        <p:nvSpPr>
          <p:cNvPr id="12" name="Rounded Rectangle 11"/>
          <p:cNvSpPr/>
          <p:nvPr/>
        </p:nvSpPr>
        <p:spPr>
          <a:xfrm>
            <a:off x="585216" y="632764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6272783"/>
            <a:ext cx="10222992" cy="365760"/>
          </a:xfrm>
          <a:prstGeom prst="rect">
            <a:avLst/>
          </a:prstGeom>
          <a:noFill/>
        </p:spPr>
        <p:txBody>
          <a:bodyPr wrap="square">
            <a:spAutoFit/>
          </a:bodyPr>
          <a:lstStyle/>
          <a:p>
            <a:r>
              <a:rPr sz="1350" b="1">
                <a:solidFill>
                  <a:srgbClr val="1F2937"/>
                </a:solidFill>
                <a:latin typeface="Helvetica"/>
              </a:rPr>
              <a:t>**Weeks 5 and 6.** Buffer, the traceability pass, then rehearsal. For every number: which model, which contract, which schedule version, which threshold set.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Review points end weeks 1, 2, 3 and 5. Every action closes a named gap.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Eleven sessions in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Who is in the room is a decision, and one of them carries a rule.</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**Week 1.** Kickoff, all four partners. Interface working session with the two modelling teams and Helix. Evidence elicitation with Meridian, bilateral.</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**Week 2.** The derate session, which needs Solis and Meridian in one room. Contract v1 sign-off. Then all four review what broke when it ran.</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**Weeks 3 to 5.** Stress case selection, a thirty minute integration standup weekly, and all-partner reviews of the normal case and the stress case.</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**Week 6.** Dress rehearsal, four days before the board sees it.</a:t>
            </a:r>
          </a:p>
        </p:txBody>
      </p:sp>
      <p:sp>
        <p:nvSpPr>
          <p:cNvPr id="12" name="Rounded Rectangle 11"/>
          <p:cNvSpPr/>
          <p:nvPr/>
        </p:nvSpPr>
        <p:spPr>
          <a:xfrm>
            <a:off x="585216" y="559612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541264"/>
            <a:ext cx="10222992" cy="365760"/>
          </a:xfrm>
          <a:prstGeom prst="rect">
            <a:avLst/>
          </a:prstGeom>
          <a:noFill/>
        </p:spPr>
        <p:txBody>
          <a:bodyPr wrap="square">
            <a:spAutoFit/>
          </a:bodyPr>
          <a:lstStyle/>
          <a:p>
            <a:r>
              <a:rPr sz="1350" b="1">
                <a:solidFill>
                  <a:srgbClr val="1F2937"/>
                </a:solidFill>
                <a:latin typeface="Helvetica"/>
              </a:rPr>
              <a:t>**Helix attends every technical session and no session that settles what a variable means.** A translator converts between vocabularies. It cannot rule on semantics, and nobody could confer that standing on it.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Two to three touchpoints a week for the coordinator. The schedule is data in the repository, and a test asserts the seating rule.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Nobody has to be persuaded</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Every partner is worse off under the status quo, and three do not yet know how.</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**Helix** has built against a provisional reading. A declared contract is the only outcome in which that work survives. Approach first.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**Meridian** has already asked for the uncertainty clause, in the form of an objection. Agree with it in public.</a:t>
            </a:r>
          </a:p>
        </p:txBody>
      </p:sp>
      <p:sp>
        <p:nvSpPr>
          <p:cNvPr id="8" name="Rounded Rectangle 7"/>
          <p:cNvSpPr/>
          <p:nvPr/>
        </p:nvSpPr>
        <p:spPr>
          <a:xfrm>
            <a:off x="585216" y="36575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602735"/>
            <a:ext cx="10222992" cy="365760"/>
          </a:xfrm>
          <a:prstGeom prst="rect">
            <a:avLst/>
          </a:prstGeom>
          <a:noFill/>
        </p:spPr>
        <p:txBody>
          <a:bodyPr wrap="square">
            <a:spAutoFit/>
          </a:bodyPr>
          <a:lstStyle/>
          <a:p>
            <a:r>
              <a:rPr sz="1350" b="1">
                <a:solidFill>
                  <a:srgbClr val="1F2937"/>
                </a:solidFill>
                <a:latin typeface="Helvetica"/>
              </a:rPr>
              <a:t>**Solis** is being judged on a derate function it never saw. Declaring its units is how it takes back control of how its own design is evaluated.</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**Tharsis** carries the blame for thresholds it was never sent and a schedule nobody owns. Declaring the routes moves that liability to where it belongs.</a:t>
            </a:r>
          </a:p>
        </p:txBody>
      </p:sp>
      <p:sp>
        <p:nvSpPr>
          <p:cNvPr id="12" name="Rounded Rectangle 11"/>
          <p:cNvSpPr/>
          <p:nvPr/>
        </p:nvSpPr>
        <p:spPr>
          <a:xfrm>
            <a:off x="585216" y="57790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24144"/>
            <a:ext cx="10222992" cy="365760"/>
          </a:xfrm>
          <a:prstGeom prst="rect">
            <a:avLst/>
          </a:prstGeom>
          <a:noFill/>
        </p:spPr>
        <p:txBody>
          <a:bodyPr wrap="square">
            <a:spAutoFit/>
          </a:bodyPr>
          <a:lstStyle/>
          <a:p>
            <a:r>
              <a:rPr sz="1350" b="1">
                <a:solidFill>
                  <a:srgbClr val="1F2937"/>
                </a:solidFill>
                <a:latin typeface="Helvetica"/>
              </a:rPr>
              <a:t>In an acute crisis partners accept direction they would decline in business as usual, and that window closes as soon as the crisis is declared over. Week 1 uses it.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Authority here is convening plus the diagnosis. The diagnosis does the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artifact, and what it does not establish</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It finds the gaps from the declarations alone. It was never told what to look for.</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Reads four partner declarations in four incompatible formats: a spec sheet, a README, a clause-numbered requirements document and a JSON schema.</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Applies seven general rules. None names a partner, an item or a gap. On a boundary where every object has an owner and every clause is stated, all seven return nothing.</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Returns 105 findings across 43 declarations, 44 blocking. The four gaps fall out unaided, and a test asserts they still do.</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**No language model runs inside it.** The checker is deterministic rule code, because a finding four disagreeing institutions have to accept must be reproducible byte for byte and legible in a function.</a:t>
            </a:r>
          </a:p>
        </p:txBody>
      </p:sp>
      <p:sp>
        <p:nvSpPr>
          <p:cNvPr id="12" name="Rounded Rectangle 11"/>
          <p:cNvSpPr/>
          <p:nvPr/>
        </p:nvSpPr>
        <p:spPr>
          <a:xfrm>
            <a:off x="585216" y="596188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907023"/>
            <a:ext cx="10222992" cy="365760"/>
          </a:xfrm>
          <a:prstGeom prst="rect">
            <a:avLst/>
          </a:prstGeom>
          <a:noFill/>
        </p:spPr>
        <p:txBody>
          <a:bodyPr wrap="square">
            <a:spAutoFit/>
          </a:bodyPr>
          <a:lstStyle/>
          <a:p>
            <a:r>
              <a:rPr sz="1350" b="1">
                <a:solidFill>
                  <a:srgbClr val="1F2937"/>
                </a:solidFill>
                <a:latin typeface="Helvetica"/>
              </a:rPr>
              <a:t>**What it does not establish.** It cannot tell you which variables are actually disputed. That ARES cannot answer that in month 8 is itself the finding.</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Runs offline from one command. No network, no dependencies, no framework.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