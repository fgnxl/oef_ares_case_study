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Counter-case: loose coupling is defensible for a planning study and indefensible for a resilience claim. The funder is buying a resilience claim. Source if asked: the 2018 figures are the Opportunity rover's own telemetry as reported by JPL, 645 Wh on 30 May falling to 22 Wh by 10 June 2018, against a clear-sky baseline of roughly 600 to 900 Wh per sol. That is real published data and it is external to the brief, unlike everything else in this deck, which is read off the partner descriptions. Say so rather than let it pass as though the brief supplied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number at week 6: which model, which contract, which schedule version, which threshold set.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four things that have gone wrong at month 8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**GAP-1** hourly trace to multi-year bound. Nobody owns the conversion.</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**GAP-2** installed capacity to available capacity. Tharsis derates privately.</a:t>
            </a:r>
          </a:p>
        </p:txBody>
      </p:sp>
      <p:sp>
        <p:nvSpPr>
          <p:cNvPr id="8" name="Rounded Rectangle 7"/>
          <p:cNvSpPr/>
          <p:nvPr/>
        </p:nvSpPr>
        <p:spPr>
          <a:xfrm>
            <a:off x="585216" y="27889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734056"/>
            <a:ext cx="3063239" cy="365760"/>
          </a:xfrm>
          <a:prstGeom prst="rect">
            <a:avLst/>
          </a:prstGeom>
          <a:noFill/>
        </p:spPr>
        <p:txBody>
          <a:bodyPr wrap="square">
            <a:spAutoFit/>
          </a:bodyPr>
          <a:lstStyle/>
          <a:p>
            <a:r>
              <a:rPr sz="1350" b="1">
                <a:solidFill>
                  <a:srgbClr val="1F2937"/>
                </a:solidFill>
                <a:latin typeface="Helvetica"/>
              </a:rPr>
              <a:t>**GAP-3** thresholds produced, routed to nobody.</a:t>
            </a:r>
          </a:p>
        </p:txBody>
      </p:sp>
      <p:sp>
        <p:nvSpPr>
          <p:cNvPr id="10" name="Rounded Rectangle 9"/>
          <p:cNvSpPr/>
          <p:nvPr/>
        </p:nvSpPr>
        <p:spPr>
          <a:xfrm>
            <a:off x="585216" y="348386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429000"/>
            <a:ext cx="3063239" cy="365760"/>
          </a:xfrm>
          <a:prstGeom prst="rect">
            <a:avLst/>
          </a:prstGeom>
          <a:noFill/>
        </p:spPr>
        <p:txBody>
          <a:bodyPr wrap="square">
            <a:spAutoFit/>
          </a:bodyPr>
          <a:lstStyle/>
          <a:p>
            <a:r>
              <a:rPr sz="1350" b="1">
                <a:solidFill>
                  <a:srgbClr val="1F2937"/>
                </a:solidFill>
                <a:latin typeface="Helvetica"/>
              </a:rPr>
              <a:t>**GAP-4** the largest demand driver, produced by no partner.</a:t>
            </a:r>
          </a:p>
        </p:txBody>
      </p:sp>
      <p:sp>
        <p:nvSpPr>
          <p:cNvPr id="12" name="Rounded Rectangle 11"/>
          <p:cNvSpPr/>
          <p:nvPr/>
        </p:nvSpPr>
        <p:spPr>
          <a:xfrm>
            <a:off x="585216" y="41788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123944"/>
            <a:ext cx="3063239" cy="365760"/>
          </a:xfrm>
          <a:prstGeom prst="rect">
            <a:avLst/>
          </a:prstGeom>
          <a:noFill/>
        </p:spPr>
        <p:txBody>
          <a:bodyPr wrap="square">
            <a:spAutoFit/>
          </a:bodyPr>
          <a:lstStyle/>
          <a:p>
            <a:r>
              <a:rPr sz="1350" b="1">
                <a:solidFill>
                  <a:srgbClr val="1F2937"/>
                </a:solidFill>
                <a:latin typeface="Helvetica"/>
              </a:rPr>
              <a:t>Two of six partner pairs have any stated exchange. No interface variable is named anywhere.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pic>
        <p:nvPicPr>
          <p:cNvPr id="15" name="Picture 14" descr="boundary.png"/>
          <p:cNvPicPr>
            <a:picLocks noChangeAspect="1"/>
          </p:cNvPicPr>
          <p:nvPr/>
        </p:nvPicPr>
        <p:blipFill>
          <a:blip r:embed="rId2"/>
          <a:stretch>
            <a:fillRect/>
          </a:stretch>
        </p:blipFill>
        <p:spPr>
          <a:xfrm>
            <a:off x="4169663" y="1344168"/>
            <a:ext cx="7436815" cy="42825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Tight coupling is necessary, which is why the contract comes first</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Supply and demand share a driver, so exchanging bounds once destroys the thing being tested.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In the 2018 planet-encircling dust event, one rover's array output fell from 645 Wh to 22 Wh in eleven days, about 3 percent of clear-sky baseline.</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The same storm drives crew indoors, changes activity schedules, raises thermal load and shifts life support duty cycles. Generation falls and demand rises together, because both answer to the same weather.</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Exchange bounds once and that correlation is gone by construction. What returns is a worst-case supply and a worst-case demand as two numbers, when the coincidence is what ends a settlement.</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That is what the risk laboratory means by compound events. Its objection and the coupling question are one question.</a:t>
            </a:r>
          </a:p>
        </p:txBody>
      </p:sp>
      <p:sp>
        <p:nvSpPr>
          <p:cNvPr id="12" name="Rounded Rectangle 11"/>
          <p:cNvSpPr/>
          <p:nvPr/>
        </p:nvSpPr>
        <p:spPr>
          <a:xfrm>
            <a:off x="585216" y="614476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089903"/>
            <a:ext cx="10222992" cy="365760"/>
          </a:xfrm>
          <a:prstGeom prst="rect">
            <a:avLst/>
          </a:prstGeom>
          <a:noFill/>
        </p:spPr>
        <p:txBody>
          <a:bodyPr wrap="square">
            <a:spAutoFit/>
          </a:bodyPr>
          <a:lstStyle/>
          <a:p>
            <a:r>
              <a:rPr sz="1350" b="1">
                <a:solidFill>
                  <a:srgbClr val="1F2937"/>
                </a:solidFill>
                <a:latin typeface="Helvetica"/>
              </a:rPr>
              <a:t>**Coupling tightly across three vocabularies and two clocks does not fail loudly.** It agrees quickly and wrongly, once per timestep.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brief invites the opposite case. This is why it was rejected rather than not chosen.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**Track A** is the critical path. The exchange that already failed.</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**Track B** runs alongside, because what Meridian requires changes what track A must carry.</a:t>
            </a:r>
          </a:p>
        </p:txBody>
      </p:sp>
      <p:sp>
        <p:nvSpPr>
          <p:cNvPr id="8" name="Rounded Rectangle 7"/>
          <p:cNvSpPr/>
          <p:nvPr/>
        </p:nvSpPr>
        <p:spPr>
          <a:xfrm>
            <a:off x="585216" y="29717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916935"/>
            <a:ext cx="3063239" cy="365760"/>
          </a:xfrm>
          <a:prstGeom prst="rect">
            <a:avLst/>
          </a:prstGeom>
          <a:noFill/>
        </p:spPr>
        <p:txBody>
          <a:bodyPr wrap="square">
            <a:spAutoFit/>
          </a:bodyPr>
          <a:lstStyle/>
          <a:p>
            <a:r>
              <a:rPr sz="1350" b="1">
                <a:solidFill>
                  <a:srgbClr val="1F2937"/>
                </a:solidFill>
                <a:latin typeface="Helvetica"/>
              </a:rPr>
              <a:t>**Week 2** runs end to end on crude inputs, so integration fails early.</a:t>
            </a:r>
          </a:p>
        </p:txBody>
      </p:sp>
      <p:sp>
        <p:nvSpPr>
          <p:cNvPr id="10" name="Rounded Rectangle 9"/>
          <p:cNvSpPr/>
          <p:nvPr/>
        </p:nvSpPr>
        <p:spPr>
          <a:xfrm>
            <a:off x="585216" y="36667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611879"/>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a:t>
            </a:r>
          </a:p>
        </p:txBody>
      </p:sp>
      <p:sp>
        <p:nvSpPr>
          <p:cNvPr id="12" name="Rounded Rectangle 11"/>
          <p:cNvSpPr/>
          <p:nvPr/>
        </p:nvSpPr>
        <p:spPr>
          <a:xfrm>
            <a:off x="585216" y="43616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306823"/>
            <a:ext cx="3063239" cy="365760"/>
          </a:xfrm>
          <a:prstGeom prst="rect">
            <a:avLst/>
          </a:prstGeom>
          <a:noFill/>
        </p:spPr>
        <p:txBody>
          <a:bodyPr wrap="square">
            <a:spAutoFit/>
          </a:bodyPr>
          <a:lstStyle/>
          <a:p>
            <a:r>
              <a:rPr sz="1350" b="1">
                <a:solidFill>
                  <a:srgbClr val="1F2937"/>
                </a:solidFill>
                <a:latin typeface="Helvetica"/>
              </a:rPr>
              <a:t>Review points end weeks 1, 2, 3 and 5. Every action closes a named gap.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traceability pass is the deliverable, not the run.</a:t>
            </a:r>
          </a:p>
        </p:txBody>
      </p:sp>
      <p:pic>
        <p:nvPicPr>
          <p:cNvPr id="15" name="Picture 14" descr="calendar.png"/>
          <p:cNvPicPr>
            <a:picLocks noChangeAspect="1"/>
          </p:cNvPicPr>
          <p:nvPr/>
        </p:nvPicPr>
        <p:blipFill>
          <a:blip r:embed="rId2"/>
          <a:stretch>
            <a:fillRect/>
          </a:stretch>
        </p:blipFill>
        <p:spPr>
          <a:xfrm>
            <a:off x="4169663" y="1344168"/>
            <a:ext cx="7436815" cy="396287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Who is in the room is a decision, and one of them carries a rule.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1.** Kickoff, all four partners. Interface working session with the two modelling teams and Helix. Evidence elicitation with Meridian, bilateral.</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**Week 2.** The derate session, which needs Solis and Meridian in one room. Contract v1 sign-off. Then all four review what broke when it ran.</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**Weeks 3 to 5.** Stress case selection, a thirty minute integration standup weekly, and all-partner reviews of the normal case and the stress case.</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6.** Dress rehearsal, four days before the board sees it.</a:t>
            </a:r>
          </a:p>
        </p:txBody>
      </p:sp>
      <p:sp>
        <p:nvSpPr>
          <p:cNvPr id="12" name="Rounded Rectangle 11"/>
          <p:cNvSpPr/>
          <p:nvPr/>
        </p:nvSpPr>
        <p:spPr>
          <a:xfrm>
            <a:off x="585216" y="559612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541264"/>
            <a:ext cx="10222992" cy="365760"/>
          </a:xfrm>
          <a:prstGeom prst="rect">
            <a:avLst/>
          </a:prstGeom>
          <a:noFill/>
        </p:spPr>
        <p:txBody>
          <a:bodyPr wrap="square">
            <a:spAutoFit/>
          </a:bodyPr>
          <a:lstStyle/>
          <a:p>
            <a:r>
              <a:rPr sz="1350" b="1">
                <a:solidFill>
                  <a:srgbClr val="1F2937"/>
                </a:solidFill>
                <a:latin typeface="Helvetica"/>
              </a:rPr>
              <a:t>**Helix attends every technical session and no session that settles what a variable means.** A translator converts between vocabularies. It cannot rule on semantics, and nobody could confer that standing on it.</a:t>
            </a:r>
          </a:p>
        </p:txBody>
      </p:sp>
      <p:sp>
        <p:nvSpPr>
          <p:cNvPr id="14" name="Rounded Rectangle 13"/>
          <p:cNvSpPr/>
          <p:nvPr/>
        </p:nvSpPr>
        <p:spPr>
          <a:xfrm>
            <a:off x="585216" y="683971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784848"/>
            <a:ext cx="10222992" cy="365760"/>
          </a:xfrm>
          <a:prstGeom prst="rect">
            <a:avLst/>
          </a:prstGeom>
          <a:noFill/>
        </p:spPr>
        <p:txBody>
          <a:bodyPr wrap="square">
            <a:spAutoFit/>
          </a:bodyPr>
          <a:lstStyle/>
          <a:p>
            <a:r>
              <a:rPr sz="1350" b="1">
                <a:solidFill>
                  <a:srgbClr val="1F2937"/>
                </a:solidFill>
                <a:latin typeface="Helvetica"/>
              </a:rPr>
              <a:t>**It holds the only working transport code for the exchange that already failed.** We cannot say from the case study material whether that helps, so the plan is built to gain if it can and to lose nothing if it cannot.</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It finds the gaps from the declarations alone. It was never told what to look for.</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Reads four partner declarations in four incompatible formats: a spec sheet, a README, a clause-numbered requirements document and a JSON schema.</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Applies seven general rules. None names a partner, an item or a gap. On a boundary where every object has an owner and every clause is stated, all seven return nothing.</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Returns 105 findings across 43 declarations, 44 blocking. The four gaps fall out unaided, and a test asserts they still do.</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**No language model runs inside it.** The checker is deterministic rule code, because a finding four disagreeing institutions have to accept must be reproducible byte for byte and legible in a function.</a:t>
            </a:r>
          </a:p>
        </p:txBody>
      </p:sp>
      <p:sp>
        <p:nvSpPr>
          <p:cNvPr id="12" name="Rounded Rectangle 11"/>
          <p:cNvSpPr/>
          <p:nvPr/>
        </p:nvSpPr>
        <p:spPr>
          <a:xfrm>
            <a:off x="585216" y="59618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3"/>
            <a:ext cx="10222992"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integration: one contract, then the demonstration</dc:title>
  <dc:subject/>
  <dc:creator>Francis Li</dc:creator>
  <cp:keywords/>
  <dc:description/>
  <cp:lastModifiedBy>Francis Li</cp:lastModifiedBy>
  <cp:revision>1</cp:revision>
  <dcterms:created xsi:type="dcterms:W3CDTF">2013-01-27T09:14:16Z</dcterms:created>
  <dcterms:modified xsi:type="dcterms:W3CDTF">2013-01-27T09:15:58Z</dcterms:modified>
  <cp:category/>
</cp:coreProperties>
</file>